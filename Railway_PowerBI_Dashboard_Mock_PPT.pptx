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1"/>
  </p:notesMasterIdLst>
  <p:sldIdLst>
    <p:sldId id="256" r:id="rId2"/>
    <p:sldId id="268" r:id="rId3"/>
    <p:sldId id="257" r:id="rId4"/>
    <p:sldId id="271" r:id="rId5"/>
    <p:sldId id="269" r:id="rId6"/>
    <p:sldId id="270" r:id="rId7"/>
    <p:sldId id="272" r:id="rId8"/>
    <p:sldId id="264" r:id="rId9"/>
    <p:sldId id="258" r:id="rId10"/>
    <p:sldId id="259" r:id="rId11"/>
    <p:sldId id="260" r:id="rId12"/>
    <p:sldId id="261" r:id="rId13"/>
    <p:sldId id="262" r:id="rId14"/>
    <p:sldId id="263" r:id="rId15"/>
    <p:sldId id="267" r:id="rId16"/>
    <p:sldId id="273" r:id="rId17"/>
    <p:sldId id="274" r:id="rId18"/>
    <p:sldId id="265" r:id="rId19"/>
    <p:sldId id="266"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1270CE-2249-4C93-B79D-F32BEE07AD83}" v="43" dt="2026-01-28T04:45:49.3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510" autoAdjust="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varma25032005@outlook.com" userId="3e42205020987a60" providerId="LiveId" clId="{0251AB40-04CC-495C-9DFA-88AD66CA0D10}"/>
    <pc:docChg chg="undo custSel addSld delSld modSld sldOrd">
      <pc:chgData name="harshvarma25032005@outlook.com" userId="3e42205020987a60" providerId="LiveId" clId="{0251AB40-04CC-495C-9DFA-88AD66CA0D10}" dt="2026-01-28T04:47:16.473" v="1157" actId="113"/>
      <pc:docMkLst>
        <pc:docMk/>
      </pc:docMkLst>
      <pc:sldChg chg="modSp mod ord">
        <pc:chgData name="harshvarma25032005@outlook.com" userId="3e42205020987a60" providerId="LiveId" clId="{0251AB40-04CC-495C-9DFA-88AD66CA0D10}" dt="2026-01-28T04:35:19.039" v="1069"/>
        <pc:sldMkLst>
          <pc:docMk/>
          <pc:sldMk cId="0" sldId="257"/>
        </pc:sldMkLst>
        <pc:spChg chg="mod">
          <ac:chgData name="harshvarma25032005@outlook.com" userId="3e42205020987a60" providerId="LiveId" clId="{0251AB40-04CC-495C-9DFA-88AD66CA0D10}" dt="2026-01-19T05:11:22.829" v="443" actId="14100"/>
          <ac:spMkLst>
            <pc:docMk/>
            <pc:sldMk cId="0" sldId="257"/>
            <ac:spMk id="2" creationId="{00000000-0000-0000-0000-000000000000}"/>
          </ac:spMkLst>
        </pc:spChg>
        <pc:spChg chg="mod">
          <ac:chgData name="harshvarma25032005@outlook.com" userId="3e42205020987a60" providerId="LiveId" clId="{0251AB40-04CC-495C-9DFA-88AD66CA0D10}" dt="2026-01-19T05:11:35.986" v="446" actId="14100"/>
          <ac:spMkLst>
            <pc:docMk/>
            <pc:sldMk cId="0" sldId="257"/>
            <ac:spMk id="3" creationId="{00000000-0000-0000-0000-000000000000}"/>
          </ac:spMkLst>
        </pc:spChg>
      </pc:sldChg>
      <pc:sldChg chg="modSp mod ord">
        <pc:chgData name="harshvarma25032005@outlook.com" userId="3e42205020987a60" providerId="LiveId" clId="{0251AB40-04CC-495C-9DFA-88AD66CA0D10}" dt="2026-01-28T04:33:25.368" v="1063"/>
        <pc:sldMkLst>
          <pc:docMk/>
          <pc:sldMk cId="0" sldId="264"/>
        </pc:sldMkLst>
        <pc:spChg chg="mod">
          <ac:chgData name="harshvarma25032005@outlook.com" userId="3e42205020987a60" providerId="LiveId" clId="{0251AB40-04CC-495C-9DFA-88AD66CA0D10}" dt="2026-01-19T05:07:33.830" v="115" actId="14100"/>
          <ac:spMkLst>
            <pc:docMk/>
            <pc:sldMk cId="0" sldId="264"/>
            <ac:spMk id="2" creationId="{00000000-0000-0000-0000-000000000000}"/>
          </ac:spMkLst>
        </pc:spChg>
        <pc:spChg chg="mod">
          <ac:chgData name="harshvarma25032005@outlook.com" userId="3e42205020987a60" providerId="LiveId" clId="{0251AB40-04CC-495C-9DFA-88AD66CA0D10}" dt="2026-01-19T05:08:00.984" v="118" actId="255"/>
          <ac:spMkLst>
            <pc:docMk/>
            <pc:sldMk cId="0" sldId="264"/>
            <ac:spMk id="3" creationId="{00000000-0000-0000-0000-000000000000}"/>
          </ac:spMkLst>
        </pc:spChg>
      </pc:sldChg>
      <pc:sldChg chg="modSp mod">
        <pc:chgData name="harshvarma25032005@outlook.com" userId="3e42205020987a60" providerId="LiveId" clId="{0251AB40-04CC-495C-9DFA-88AD66CA0D10}" dt="2026-01-28T04:35:58.263" v="1071" actId="14100"/>
        <pc:sldMkLst>
          <pc:docMk/>
          <pc:sldMk cId="2855903778" sldId="267"/>
        </pc:sldMkLst>
        <pc:spChg chg="mod">
          <ac:chgData name="harshvarma25032005@outlook.com" userId="3e42205020987a60" providerId="LiveId" clId="{0251AB40-04CC-495C-9DFA-88AD66CA0D10}" dt="2026-01-28T04:35:58.263" v="1071" actId="14100"/>
          <ac:spMkLst>
            <pc:docMk/>
            <pc:sldMk cId="2855903778" sldId="267"/>
            <ac:spMk id="3" creationId="{08D1817C-AC9E-02B7-36B5-6C09D5A5CCCC}"/>
          </ac:spMkLst>
        </pc:spChg>
      </pc:sldChg>
      <pc:sldChg chg="modSp new mod ord">
        <pc:chgData name="harshvarma25032005@outlook.com" userId="3e42205020987a60" providerId="LiveId" clId="{0251AB40-04CC-495C-9DFA-88AD66CA0D10}" dt="2026-01-28T04:30:03.446" v="1051"/>
        <pc:sldMkLst>
          <pc:docMk/>
          <pc:sldMk cId="2575829530" sldId="268"/>
        </pc:sldMkLst>
        <pc:spChg chg="mod">
          <ac:chgData name="harshvarma25032005@outlook.com" userId="3e42205020987a60" providerId="LiveId" clId="{0251AB40-04CC-495C-9DFA-88AD66CA0D10}" dt="2026-01-19T05:22:19.368" v="468" actId="14100"/>
          <ac:spMkLst>
            <pc:docMk/>
            <pc:sldMk cId="2575829530" sldId="268"/>
            <ac:spMk id="2" creationId="{DA154CEE-8432-C434-7078-888BEDA51A67}"/>
          </ac:spMkLst>
        </pc:spChg>
        <pc:spChg chg="mod">
          <ac:chgData name="harshvarma25032005@outlook.com" userId="3e42205020987a60" providerId="LiveId" clId="{0251AB40-04CC-495C-9DFA-88AD66CA0D10}" dt="2026-01-19T05:58:30.685" v="876" actId="6549"/>
          <ac:spMkLst>
            <pc:docMk/>
            <pc:sldMk cId="2575829530" sldId="268"/>
            <ac:spMk id="3" creationId="{E78E9552-93CC-CD61-F6E7-7163835CAF60}"/>
          </ac:spMkLst>
        </pc:spChg>
      </pc:sldChg>
      <pc:sldChg chg="modSp new mod ord">
        <pc:chgData name="harshvarma25032005@outlook.com" userId="3e42205020987a60" providerId="LiveId" clId="{0251AB40-04CC-495C-9DFA-88AD66CA0D10}" dt="2026-01-28T04:31:53.518" v="1059"/>
        <pc:sldMkLst>
          <pc:docMk/>
          <pc:sldMk cId="718430369" sldId="269"/>
        </pc:sldMkLst>
        <pc:spChg chg="mod">
          <ac:chgData name="harshvarma25032005@outlook.com" userId="3e42205020987a60" providerId="LiveId" clId="{0251AB40-04CC-495C-9DFA-88AD66CA0D10}" dt="2026-01-19T05:25:13.486" v="493" actId="14100"/>
          <ac:spMkLst>
            <pc:docMk/>
            <pc:sldMk cId="718430369" sldId="269"/>
            <ac:spMk id="2" creationId="{662F94D4-A489-A454-5F2F-206392D2E262}"/>
          </ac:spMkLst>
        </pc:spChg>
        <pc:spChg chg="mod">
          <ac:chgData name="harshvarma25032005@outlook.com" userId="3e42205020987a60" providerId="LiveId" clId="{0251AB40-04CC-495C-9DFA-88AD66CA0D10}" dt="2026-01-19T06:02:20.636" v="956" actId="113"/>
          <ac:spMkLst>
            <pc:docMk/>
            <pc:sldMk cId="718430369" sldId="269"/>
            <ac:spMk id="3" creationId="{EBB38850-A5D4-39B8-76DA-35920C1B0C66}"/>
          </ac:spMkLst>
        </pc:spChg>
      </pc:sldChg>
      <pc:sldChg chg="addSp modSp new mod ord">
        <pc:chgData name="harshvarma25032005@outlook.com" userId="3e42205020987a60" providerId="LiveId" clId="{0251AB40-04CC-495C-9DFA-88AD66CA0D10}" dt="2026-01-28T04:31:45.708" v="1057"/>
        <pc:sldMkLst>
          <pc:docMk/>
          <pc:sldMk cId="2946055651" sldId="270"/>
        </pc:sldMkLst>
        <pc:spChg chg="mod">
          <ac:chgData name="harshvarma25032005@outlook.com" userId="3e42205020987a60" providerId="LiveId" clId="{0251AB40-04CC-495C-9DFA-88AD66CA0D10}" dt="2026-01-19T05:37:46.458" v="758" actId="14100"/>
          <ac:spMkLst>
            <pc:docMk/>
            <pc:sldMk cId="2946055651" sldId="270"/>
            <ac:spMk id="2" creationId="{FEFB5E38-27F6-12F8-B5BF-D789D99ECFD1}"/>
          </ac:spMkLst>
        </pc:spChg>
        <pc:spChg chg="mod">
          <ac:chgData name="harshvarma25032005@outlook.com" userId="3e42205020987a60" providerId="LiveId" clId="{0251AB40-04CC-495C-9DFA-88AD66CA0D10}" dt="2026-01-19T05:38:14.008" v="763" actId="27636"/>
          <ac:spMkLst>
            <pc:docMk/>
            <pc:sldMk cId="2946055651" sldId="270"/>
            <ac:spMk id="3" creationId="{70010CBE-3B5C-3B3C-20EF-7C6D31CB51DC}"/>
          </ac:spMkLst>
        </pc:spChg>
        <pc:spChg chg="mod">
          <ac:chgData name="harshvarma25032005@outlook.com" userId="3e42205020987a60" providerId="LiveId" clId="{0251AB40-04CC-495C-9DFA-88AD66CA0D10}" dt="2026-01-19T05:38:14.017" v="764" actId="27636"/>
          <ac:spMkLst>
            <pc:docMk/>
            <pc:sldMk cId="2946055651" sldId="270"/>
            <ac:spMk id="4" creationId="{B62AE753-4A0B-18C5-5103-E1E38755506F}"/>
          </ac:spMkLst>
        </pc:spChg>
      </pc:sldChg>
      <pc:sldChg chg="modSp new mod ord">
        <pc:chgData name="harshvarma25032005@outlook.com" userId="3e42205020987a60" providerId="LiveId" clId="{0251AB40-04CC-495C-9DFA-88AD66CA0D10}" dt="2026-01-28T04:31:05.109" v="1053"/>
        <pc:sldMkLst>
          <pc:docMk/>
          <pc:sldMk cId="1253630742" sldId="271"/>
        </pc:sldMkLst>
        <pc:spChg chg="mod">
          <ac:chgData name="harshvarma25032005@outlook.com" userId="3e42205020987a60" providerId="LiveId" clId="{0251AB40-04CC-495C-9DFA-88AD66CA0D10}" dt="2026-01-19T06:25:54.788" v="1043" actId="27636"/>
          <ac:spMkLst>
            <pc:docMk/>
            <pc:sldMk cId="1253630742" sldId="271"/>
            <ac:spMk id="2" creationId="{4AC6B927-C8BC-D089-881D-FF3F9877700B}"/>
          </ac:spMkLst>
        </pc:spChg>
        <pc:spChg chg="mod">
          <ac:chgData name="harshvarma25032005@outlook.com" userId="3e42205020987a60" providerId="LiveId" clId="{0251AB40-04CC-495C-9DFA-88AD66CA0D10}" dt="2026-01-19T05:45:09.193" v="802" actId="27636"/>
          <ac:spMkLst>
            <pc:docMk/>
            <pc:sldMk cId="1253630742" sldId="271"/>
            <ac:spMk id="3" creationId="{9D4EF49C-E5F8-A71E-CAE8-47F8EC388083}"/>
          </ac:spMkLst>
        </pc:spChg>
      </pc:sldChg>
      <pc:sldChg chg="modSp new mod ord">
        <pc:chgData name="harshvarma25032005@outlook.com" userId="3e42205020987a60" providerId="LiveId" clId="{0251AB40-04CC-495C-9DFA-88AD66CA0D10}" dt="2026-01-28T04:32:47.382" v="1061"/>
        <pc:sldMkLst>
          <pc:docMk/>
          <pc:sldMk cId="2825133733" sldId="272"/>
        </pc:sldMkLst>
        <pc:spChg chg="mod">
          <ac:chgData name="harshvarma25032005@outlook.com" userId="3e42205020987a60" providerId="LiveId" clId="{0251AB40-04CC-495C-9DFA-88AD66CA0D10}" dt="2026-01-19T06:04:45.495" v="991" actId="14100"/>
          <ac:spMkLst>
            <pc:docMk/>
            <pc:sldMk cId="2825133733" sldId="272"/>
            <ac:spMk id="2" creationId="{4F68C2EE-CCCE-7363-29C9-B4B6030A404D}"/>
          </ac:spMkLst>
        </pc:spChg>
        <pc:spChg chg="mod">
          <ac:chgData name="harshvarma25032005@outlook.com" userId="3e42205020987a60" providerId="LiveId" clId="{0251AB40-04CC-495C-9DFA-88AD66CA0D10}" dt="2026-01-19T06:10:23.757" v="1025" actId="20577"/>
          <ac:spMkLst>
            <pc:docMk/>
            <pc:sldMk cId="2825133733" sldId="272"/>
            <ac:spMk id="3" creationId="{D3CC0218-5F6F-B0B0-2CBB-98926428937F}"/>
          </ac:spMkLst>
        </pc:spChg>
      </pc:sldChg>
      <pc:sldChg chg="modSp new mod">
        <pc:chgData name="harshvarma25032005@outlook.com" userId="3e42205020987a60" providerId="LiveId" clId="{0251AB40-04CC-495C-9DFA-88AD66CA0D10}" dt="2026-01-28T04:47:16.473" v="1157" actId="113"/>
        <pc:sldMkLst>
          <pc:docMk/>
          <pc:sldMk cId="95875200" sldId="273"/>
        </pc:sldMkLst>
        <pc:spChg chg="mod">
          <ac:chgData name="harshvarma25032005@outlook.com" userId="3e42205020987a60" providerId="LiveId" clId="{0251AB40-04CC-495C-9DFA-88AD66CA0D10}" dt="2026-01-28T04:44:07.021" v="1095" actId="14100"/>
          <ac:spMkLst>
            <pc:docMk/>
            <pc:sldMk cId="95875200" sldId="273"/>
            <ac:spMk id="2" creationId="{8C804772-9223-C823-2538-1F8BAC79104E}"/>
          </ac:spMkLst>
        </pc:spChg>
        <pc:spChg chg="mod">
          <ac:chgData name="harshvarma25032005@outlook.com" userId="3e42205020987a60" providerId="LiveId" clId="{0251AB40-04CC-495C-9DFA-88AD66CA0D10}" dt="2026-01-28T04:47:16.473" v="1157" actId="113"/>
          <ac:spMkLst>
            <pc:docMk/>
            <pc:sldMk cId="95875200" sldId="273"/>
            <ac:spMk id="3" creationId="{011CDFF3-2E13-383C-EA52-6E6022CF3705}"/>
          </ac:spMkLst>
        </pc:spChg>
      </pc:sldChg>
      <pc:sldChg chg="delSp modSp new mod">
        <pc:chgData name="harshvarma25032005@outlook.com" userId="3e42205020987a60" providerId="LiveId" clId="{0251AB40-04CC-495C-9DFA-88AD66CA0D10}" dt="2026-01-28T04:46:54.577" v="1152" actId="113"/>
        <pc:sldMkLst>
          <pc:docMk/>
          <pc:sldMk cId="180004063" sldId="274"/>
        </pc:sldMkLst>
        <pc:spChg chg="del mod">
          <ac:chgData name="harshvarma25032005@outlook.com" userId="3e42205020987a60" providerId="LiveId" clId="{0251AB40-04CC-495C-9DFA-88AD66CA0D10}" dt="2026-01-28T04:46:05.233" v="1105" actId="21"/>
          <ac:spMkLst>
            <pc:docMk/>
            <pc:sldMk cId="180004063" sldId="274"/>
            <ac:spMk id="2" creationId="{8EC34AC3-4869-45F6-B306-C7816E475653}"/>
          </ac:spMkLst>
        </pc:spChg>
        <pc:spChg chg="mod">
          <ac:chgData name="harshvarma25032005@outlook.com" userId="3e42205020987a60" providerId="LiveId" clId="{0251AB40-04CC-495C-9DFA-88AD66CA0D10}" dt="2026-01-28T04:46:54.577" v="1152" actId="113"/>
          <ac:spMkLst>
            <pc:docMk/>
            <pc:sldMk cId="180004063" sldId="274"/>
            <ac:spMk id="3" creationId="{69924B6F-3A2D-3A36-4120-23C970F654B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2024E3-8081-459C-AD28-DD1D504C5955}" type="datetimeFigureOut">
              <a:rPr lang="en-IN" smtClean="0"/>
              <a:t>28-01-2026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BE3C63-F300-4351-876A-DC3DF24BEB86}" type="slidenum">
              <a:rPr lang="en-IN" smtClean="0"/>
              <a:t>‹#›</a:t>
            </a:fld>
            <a:endParaRPr lang="en-IN"/>
          </a:p>
        </p:txBody>
      </p:sp>
    </p:spTree>
    <p:extLst>
      <p:ext uri="{BB962C8B-B14F-4D97-AF65-F5344CB8AC3E}">
        <p14:creationId xmlns:p14="http://schemas.microsoft.com/office/powerpoint/2010/main" val="703979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9BE3C63-F300-4351-876A-DC3DF24BEB86}" type="slidenum">
              <a:rPr lang="en-IN" smtClean="0"/>
              <a:t>7</a:t>
            </a:fld>
            <a:endParaRPr lang="en-IN"/>
          </a:p>
        </p:txBody>
      </p:sp>
    </p:spTree>
    <p:extLst>
      <p:ext uri="{BB962C8B-B14F-4D97-AF65-F5344CB8AC3E}">
        <p14:creationId xmlns:p14="http://schemas.microsoft.com/office/powerpoint/2010/main" val="7640752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1/28/2026</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60970170"/>
      </p:ext>
    </p:extLst>
  </p:cSld>
  <p:clrMapOvr>
    <a:masterClrMapping/>
  </p:clrMapOvr>
  <p:transition spd="slow" advTm="1000">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9547068"/>
      </p:ext>
    </p:extLst>
  </p:cSld>
  <p:clrMapOvr>
    <a:masterClrMapping/>
  </p:clrMapOvr>
  <p:transition spd="slow" advTm="1000">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1/28/2026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73307895"/>
      </p:ext>
    </p:extLst>
  </p:cSld>
  <p:clrMapOvr>
    <a:masterClrMapping/>
  </p:clrMapOvr>
  <p:transition spd="slow" advTm="1000">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02417082"/>
      </p:ext>
    </p:extLst>
  </p:cSld>
  <p:clrMapOvr>
    <a:masterClrMapping/>
  </p:clrMapOvr>
  <p:transition spd="slow" advTm="1000">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3781553"/>
      </p:ext>
    </p:extLst>
  </p:cSld>
  <p:clrMapOvr>
    <a:masterClrMapping/>
  </p:clrMapOvr>
  <p:transition spd="slow" advTm="1000">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94712176"/>
      </p:ext>
    </p:extLst>
  </p:cSld>
  <p:clrMapOvr>
    <a:masterClrMapping/>
  </p:clrMapOvr>
  <p:transition spd="slow" advTm="1000">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22385433"/>
      </p:ext>
    </p:extLst>
  </p:cSld>
  <p:clrMapOvr>
    <a:masterClrMapping/>
  </p:clrMapOvr>
  <p:transition spd="slow" advTm="1000">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72235875"/>
      </p:ext>
    </p:extLst>
  </p:cSld>
  <p:clrMapOvr>
    <a:masterClrMapping/>
  </p:clrMapOvr>
  <p:transition spd="slow" advTm="1000">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32384143"/>
      </p:ext>
    </p:extLst>
  </p:cSld>
  <p:clrMapOvr>
    <a:masterClrMapping/>
  </p:clrMapOvr>
  <p:transition spd="slow" advTm="1000">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28494715"/>
      </p:ext>
    </p:extLst>
  </p:cSld>
  <p:clrMapOvr>
    <a:masterClrMapping/>
  </p:clrMapOvr>
  <p:transition spd="slow" advTm="1000">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1/28/2026</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70703579"/>
      </p:ext>
    </p:extLst>
  </p:cSld>
  <p:clrMapOvr>
    <a:masterClrMapping/>
  </p:clrMapOvr>
  <p:transition spd="slow" advTm="1000">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1/28/2026</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88895310"/>
      </p:ext>
    </p:extLst>
  </p:cSld>
  <p:clrMapOvr>
    <a:masterClrMapping/>
  </p:clrMapOvr>
  <p:transition spd="slow" advTm="1000">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1/28/2026</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66550398"/>
      </p:ext>
    </p:extLst>
  </p:cSld>
  <p:clrMapOvr>
    <a:masterClrMapping/>
  </p:clrMapOvr>
  <p:transition spd="slow" advTm="1000">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39080629"/>
      </p:ext>
    </p:extLst>
  </p:cSld>
  <p:clrMapOvr>
    <a:masterClrMapping/>
  </p:clrMapOvr>
  <p:transition spd="slow" advTm="1000">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5256310"/>
      </p:ext>
    </p:extLst>
  </p:cSld>
  <p:clrMapOvr>
    <a:masterClrMapping/>
  </p:clrMapOvr>
  <p:transition spd="slow" advTm="1000">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57123672"/>
      </p:ext>
    </p:extLst>
  </p:cSld>
  <p:clrMapOvr>
    <a:masterClrMapping/>
  </p:clrMapOvr>
  <p:transition spd="slow" advTm="1000">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1/28/2026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57121835"/>
      </p:ext>
    </p:extLst>
  </p:cSld>
  <p:clrMapOvr>
    <a:masterClrMapping/>
  </p:clrMapOvr>
  <p:transition spd="slow" advTm="1000">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1/28/2026</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48103617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ransition spd="slow" advTm="1000">
    <p:wipe/>
  </p:transition>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dirty="0"/>
              <a:t>Railway Passenger &amp; Revenue Analysis</a:t>
            </a:r>
          </a:p>
        </p:txBody>
      </p:sp>
      <p:sp>
        <p:nvSpPr>
          <p:cNvPr id="5" name="Subtitle 4">
            <a:extLst>
              <a:ext uri="{FF2B5EF4-FFF2-40B4-BE49-F238E27FC236}">
                <a16:creationId xmlns:a16="http://schemas.microsoft.com/office/drawing/2014/main" id="{9273557B-4505-A2F9-9A43-961C9C7D7878}"/>
              </a:ext>
            </a:extLst>
          </p:cNvPr>
          <p:cNvSpPr>
            <a:spLocks noGrp="1"/>
          </p:cNvSpPr>
          <p:nvPr>
            <p:ph type="subTitle" idx="1"/>
          </p:nvPr>
        </p:nvSpPr>
        <p:spPr>
          <a:xfrm>
            <a:off x="5751870" y="5712542"/>
            <a:ext cx="3254477" cy="796413"/>
          </a:xfrm>
        </p:spPr>
        <p:txBody>
          <a:bodyPr/>
          <a:lstStyle/>
          <a:p>
            <a:r>
              <a:rPr lang="en-US" b="1" dirty="0">
                <a:solidFill>
                  <a:schemeClr val="tx1"/>
                </a:solidFill>
                <a:highlight>
                  <a:srgbClr val="000000"/>
                </a:highlight>
              </a:rPr>
              <a:t>By Harsh Varma</a:t>
            </a:r>
            <a:endParaRPr lang="en-IN" b="1" dirty="0">
              <a:solidFill>
                <a:schemeClr val="tx1"/>
              </a:solidFill>
              <a:highlight>
                <a:srgbClr val="000000"/>
              </a:highlight>
            </a:endParaRPr>
          </a:p>
        </p:txBody>
      </p:sp>
      <p:pic>
        <p:nvPicPr>
          <p:cNvPr id="4" name="Picture 3">
            <a:extLst>
              <a:ext uri="{FF2B5EF4-FFF2-40B4-BE49-F238E27FC236}">
                <a16:creationId xmlns:a16="http://schemas.microsoft.com/office/drawing/2014/main" id="{259DB1BF-0380-CADE-C712-E4365CE5E560}"/>
              </a:ext>
            </a:extLst>
          </p:cNvPr>
          <p:cNvPicPr>
            <a:picLocks noChangeAspect="1"/>
          </p:cNvPicPr>
          <p:nvPr/>
        </p:nvPicPr>
        <p:blipFill>
          <a:blip r:embed="rId2"/>
          <a:stretch>
            <a:fillRect/>
          </a:stretch>
        </p:blipFill>
        <p:spPr>
          <a:xfrm>
            <a:off x="0" y="0"/>
            <a:ext cx="1076840" cy="1076840"/>
          </a:xfrm>
          <a:prstGeom prst="rect">
            <a:avLst/>
          </a:prstGeom>
        </p:spPr>
      </p:pic>
      <p:pic>
        <p:nvPicPr>
          <p:cNvPr id="7" name="Picture 6">
            <a:extLst>
              <a:ext uri="{FF2B5EF4-FFF2-40B4-BE49-F238E27FC236}">
                <a16:creationId xmlns:a16="http://schemas.microsoft.com/office/drawing/2014/main" id="{43254C35-17E2-06C2-6A9A-4B1F7E87DF9B}"/>
              </a:ext>
            </a:extLst>
          </p:cNvPr>
          <p:cNvPicPr>
            <a:picLocks noChangeAspect="1"/>
          </p:cNvPicPr>
          <p:nvPr/>
        </p:nvPicPr>
        <p:blipFill>
          <a:blip r:embed="rId2"/>
          <a:stretch>
            <a:fillRect/>
          </a:stretch>
        </p:blipFill>
        <p:spPr>
          <a:xfrm>
            <a:off x="8067160" y="0"/>
            <a:ext cx="1076840" cy="1076840"/>
          </a:xfrm>
          <a:prstGeom prst="rect">
            <a:avLst/>
          </a:prstGeom>
        </p:spPr>
      </p:pic>
    </p:spTree>
  </p:cSld>
  <p:clrMapOvr>
    <a:masterClrMapping/>
  </p:clrMapOvr>
  <p:transition spd="slow" advTm="1000">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54CEE-8432-C434-7078-888BEDA51A67}"/>
              </a:ext>
            </a:extLst>
          </p:cNvPr>
          <p:cNvSpPr>
            <a:spLocks noGrp="1"/>
          </p:cNvSpPr>
          <p:nvPr>
            <p:ph type="title"/>
          </p:nvPr>
        </p:nvSpPr>
        <p:spPr>
          <a:xfrm>
            <a:off x="2171700" y="-98323"/>
            <a:ext cx="6377940" cy="1012723"/>
          </a:xfrm>
        </p:spPr>
        <p:txBody>
          <a:bodyPr>
            <a:normAutofit/>
          </a:bodyPr>
          <a:lstStyle/>
          <a:p>
            <a:r>
              <a:rPr lang="en-US" sz="3200" dirty="0"/>
              <a:t>Problem Statement</a:t>
            </a:r>
            <a:endParaRPr lang="en-IN" sz="3200" dirty="0"/>
          </a:p>
        </p:txBody>
      </p:sp>
      <p:sp>
        <p:nvSpPr>
          <p:cNvPr id="3" name="Content Placeholder 2">
            <a:extLst>
              <a:ext uri="{FF2B5EF4-FFF2-40B4-BE49-F238E27FC236}">
                <a16:creationId xmlns:a16="http://schemas.microsoft.com/office/drawing/2014/main" id="{E78E9552-93CC-CD61-F6E7-7163835CAF60}"/>
              </a:ext>
            </a:extLst>
          </p:cNvPr>
          <p:cNvSpPr>
            <a:spLocks noGrp="1"/>
          </p:cNvSpPr>
          <p:nvPr>
            <p:ph idx="1"/>
          </p:nvPr>
        </p:nvSpPr>
        <p:spPr>
          <a:xfrm>
            <a:off x="594360" y="678426"/>
            <a:ext cx="7955280" cy="5585214"/>
          </a:xfrm>
        </p:spPr>
        <p:txBody>
          <a:bodyPr/>
          <a:lstStyle/>
          <a:p>
            <a:r>
              <a:rPr lang="en-US" sz="2800" b="1" dirty="0"/>
              <a:t>Currently I am showing project on railway passenger &amp; revenue analysis</a:t>
            </a:r>
          </a:p>
          <a:p>
            <a:r>
              <a:rPr lang="en-US" sz="2800" b="1" dirty="0"/>
              <a:t>Railway data is available in large amounts, but it is difficult to understand train performance, passenger flow, revenue, routes, and delays by looking at raw data. There is no single view to track overall railway operations and identify delay issues. This project aims to convert railway data into an interactive Power BI dashboard to easily monitor performance and support better decision-making</a:t>
            </a:r>
            <a:r>
              <a:rPr lang="en-US" b="1" dirty="0"/>
              <a:t>.</a:t>
            </a:r>
            <a:endParaRPr lang="en-US" dirty="0"/>
          </a:p>
        </p:txBody>
      </p:sp>
    </p:spTree>
    <p:extLst>
      <p:ext uri="{BB962C8B-B14F-4D97-AF65-F5344CB8AC3E}">
        <p14:creationId xmlns:p14="http://schemas.microsoft.com/office/powerpoint/2010/main" val="2575829530"/>
      </p:ext>
    </p:extLst>
  </p:cSld>
  <p:clrMapOvr>
    <a:masterClrMapping/>
  </p:clrMapOvr>
  <p:transition spd="slow" advTm="1000">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1700" y="108155"/>
            <a:ext cx="6377940" cy="737419"/>
          </a:xfrm>
        </p:spPr>
        <p:txBody>
          <a:bodyPr/>
          <a:lstStyle/>
          <a:p>
            <a:r>
              <a:rPr lang="en-US" dirty="0"/>
              <a:t>About</a:t>
            </a:r>
            <a:r>
              <a:rPr dirty="0"/>
              <a:t> this Project?</a:t>
            </a:r>
          </a:p>
        </p:txBody>
      </p:sp>
      <p:sp>
        <p:nvSpPr>
          <p:cNvPr id="3" name="Content Placeholder 2"/>
          <p:cNvSpPr>
            <a:spLocks noGrp="1"/>
          </p:cNvSpPr>
          <p:nvPr>
            <p:ph idx="1"/>
          </p:nvPr>
        </p:nvSpPr>
        <p:spPr>
          <a:xfrm>
            <a:off x="88490" y="845574"/>
            <a:ext cx="8598310" cy="5904271"/>
          </a:xfrm>
        </p:spPr>
        <p:txBody>
          <a:bodyPr>
            <a:normAutofit/>
          </a:bodyPr>
          <a:lstStyle/>
          <a:p>
            <a:r>
              <a:rPr dirty="0"/>
              <a:t>This project is created using Power BI to analyze railway data.</a:t>
            </a:r>
          </a:p>
          <a:p>
            <a:endParaRPr dirty="0"/>
          </a:p>
          <a:p>
            <a:r>
              <a:rPr dirty="0"/>
              <a:t>The dashboard helps to understand:</a:t>
            </a:r>
          </a:p>
          <a:p>
            <a:r>
              <a:rPr dirty="0"/>
              <a:t>- How many trains are running</a:t>
            </a:r>
          </a:p>
          <a:p>
            <a:r>
              <a:rPr dirty="0"/>
              <a:t>- How many passengers are traveling</a:t>
            </a:r>
          </a:p>
          <a:p>
            <a:r>
              <a:rPr dirty="0"/>
              <a:t>- How much revenue is generated</a:t>
            </a:r>
          </a:p>
          <a:p>
            <a:r>
              <a:rPr dirty="0"/>
              <a:t>- Which trains and routes are delayed</a:t>
            </a:r>
          </a:p>
          <a:p>
            <a:r>
              <a:rPr dirty="0"/>
              <a:t>- Overall railway performance</a:t>
            </a:r>
          </a:p>
          <a:p>
            <a:endParaRPr dirty="0"/>
          </a:p>
          <a:p>
            <a:r>
              <a:rPr dirty="0"/>
              <a:t>This </a:t>
            </a:r>
            <a:r>
              <a:rPr lang="en-US" dirty="0"/>
              <a:t>Project is about analyzing railway data to understand train performance ,passenger details , revenue, routes and delays using Power BI dashboards. It helps to see overall railway operations and take better decisions.</a:t>
            </a:r>
            <a:endParaRPr dirty="0"/>
          </a:p>
        </p:txBody>
      </p:sp>
    </p:spTree>
  </p:cSld>
  <p:clrMapOvr>
    <a:masterClrMapping/>
  </p:clrMapOvr>
  <p:transition spd="slow" advTm="1000">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6B927-C8BC-D089-881D-FF3F9877700B}"/>
              </a:ext>
            </a:extLst>
          </p:cNvPr>
          <p:cNvSpPr>
            <a:spLocks noGrp="1"/>
          </p:cNvSpPr>
          <p:nvPr>
            <p:ph type="title"/>
          </p:nvPr>
        </p:nvSpPr>
        <p:spPr>
          <a:xfrm>
            <a:off x="2171700" y="186813"/>
            <a:ext cx="6377940" cy="707922"/>
          </a:xfrm>
        </p:spPr>
        <p:txBody>
          <a:bodyPr>
            <a:normAutofit fontScale="90000"/>
          </a:bodyPr>
          <a:lstStyle/>
          <a:p>
            <a:r>
              <a:rPr lang="en-US" sz="2800" dirty="0"/>
              <a:t>Who will use this Dashboard</a:t>
            </a:r>
            <a:br>
              <a:rPr lang="en-US" sz="2800" dirty="0"/>
            </a:br>
            <a:r>
              <a:rPr lang="en-US" sz="2800" dirty="0"/>
              <a:t>  </a:t>
            </a:r>
            <a:endParaRPr lang="en-IN" sz="2800" dirty="0"/>
          </a:p>
        </p:txBody>
      </p:sp>
      <p:sp>
        <p:nvSpPr>
          <p:cNvPr id="3" name="Content Placeholder 2">
            <a:extLst>
              <a:ext uri="{FF2B5EF4-FFF2-40B4-BE49-F238E27FC236}">
                <a16:creationId xmlns:a16="http://schemas.microsoft.com/office/drawing/2014/main" id="{9D4EF49C-E5F8-A71E-CAE8-47F8EC388083}"/>
              </a:ext>
            </a:extLst>
          </p:cNvPr>
          <p:cNvSpPr>
            <a:spLocks noGrp="1"/>
          </p:cNvSpPr>
          <p:nvPr>
            <p:ph idx="1"/>
          </p:nvPr>
        </p:nvSpPr>
        <p:spPr>
          <a:xfrm>
            <a:off x="594360" y="894735"/>
            <a:ext cx="7955280" cy="5368905"/>
          </a:xfrm>
        </p:spPr>
        <p:txBody>
          <a:bodyPr>
            <a:normAutofit fontScale="70000" lnSpcReduction="20000"/>
          </a:bodyPr>
          <a:lstStyle/>
          <a:p>
            <a:r>
              <a:rPr lang="en-US" sz="2300" b="1" dirty="0"/>
              <a:t>Railway Management</a:t>
            </a:r>
          </a:p>
          <a:p>
            <a:r>
              <a:rPr lang="en-US" sz="2300" dirty="0"/>
              <a:t>To check </a:t>
            </a:r>
            <a:r>
              <a:rPr lang="en-US" sz="2300" b="1" dirty="0"/>
              <a:t>overall performance</a:t>
            </a:r>
            <a:endParaRPr lang="en-US" sz="2300" dirty="0"/>
          </a:p>
          <a:p>
            <a:r>
              <a:rPr lang="en-US" sz="2300" dirty="0"/>
              <a:t>To track </a:t>
            </a:r>
            <a:r>
              <a:rPr lang="en-US" sz="2300" b="1" dirty="0"/>
              <a:t>revenue and passenger growth</a:t>
            </a:r>
            <a:endParaRPr lang="en-US" sz="2300" dirty="0"/>
          </a:p>
          <a:p>
            <a:r>
              <a:rPr lang="en-US" sz="2300" dirty="0"/>
              <a:t>To take </a:t>
            </a:r>
            <a:r>
              <a:rPr lang="en-US" sz="2300" b="1" dirty="0"/>
              <a:t>strategic decisions</a:t>
            </a:r>
            <a:endParaRPr lang="en-US" sz="2300" dirty="0"/>
          </a:p>
          <a:p>
            <a:r>
              <a:rPr lang="en-US" sz="2300" b="1" dirty="0"/>
              <a:t>⏱️ 2️⃣ Operations Team</a:t>
            </a:r>
          </a:p>
          <a:p>
            <a:r>
              <a:rPr lang="en-US" sz="2300" dirty="0"/>
              <a:t>To identify </a:t>
            </a:r>
            <a:r>
              <a:rPr lang="en-US" sz="2300" b="1" dirty="0"/>
              <a:t>delayed trains</a:t>
            </a:r>
            <a:endParaRPr lang="en-US" sz="2300" dirty="0"/>
          </a:p>
          <a:p>
            <a:r>
              <a:rPr lang="en-US" sz="2300" dirty="0"/>
              <a:t>To analyze </a:t>
            </a:r>
            <a:r>
              <a:rPr lang="en-US" sz="2300" b="1" dirty="0"/>
              <a:t>on-time performance</a:t>
            </a:r>
            <a:endParaRPr lang="en-US" sz="2300" dirty="0"/>
          </a:p>
          <a:p>
            <a:r>
              <a:rPr lang="en-US" sz="2300" dirty="0"/>
              <a:t>To improve </a:t>
            </a:r>
            <a:r>
              <a:rPr lang="en-US" sz="2300" b="1" dirty="0"/>
              <a:t>train scheduling</a:t>
            </a:r>
            <a:endParaRPr lang="en-US" sz="2300" dirty="0"/>
          </a:p>
          <a:p>
            <a:r>
              <a:rPr lang="en-US" sz="2300" b="1" dirty="0"/>
              <a:t>🛤️ 3️⃣ Route &amp; Planning Team</a:t>
            </a:r>
          </a:p>
          <a:p>
            <a:r>
              <a:rPr lang="en-US" sz="2300" dirty="0"/>
              <a:t>To see </a:t>
            </a:r>
            <a:r>
              <a:rPr lang="en-US" sz="2300" b="1" dirty="0"/>
              <a:t>high-traffic routes</a:t>
            </a:r>
            <a:endParaRPr lang="en-US" sz="2300" dirty="0"/>
          </a:p>
          <a:p>
            <a:r>
              <a:rPr lang="en-US" sz="2300" dirty="0"/>
              <a:t>To plan </a:t>
            </a:r>
            <a:r>
              <a:rPr lang="en-US" sz="2300" b="1" dirty="0"/>
              <a:t>better routes and timings</a:t>
            </a:r>
            <a:endParaRPr lang="en-US" sz="2300" dirty="0"/>
          </a:p>
          <a:p>
            <a:r>
              <a:rPr lang="en-US" sz="2300" b="1" dirty="0"/>
              <a:t>💰 4️⃣ Finance Team</a:t>
            </a:r>
          </a:p>
          <a:p>
            <a:r>
              <a:rPr lang="en-US" sz="2300" dirty="0"/>
              <a:t>To monitor </a:t>
            </a:r>
            <a:r>
              <a:rPr lang="en-US" sz="2300" b="1" dirty="0"/>
              <a:t>ticket revenue</a:t>
            </a:r>
            <a:endParaRPr lang="en-US" sz="2300" dirty="0"/>
          </a:p>
          <a:p>
            <a:r>
              <a:rPr lang="en-US" sz="2300" dirty="0"/>
              <a:t>To analyze </a:t>
            </a:r>
            <a:r>
              <a:rPr lang="en-US" sz="2300" b="1" dirty="0"/>
              <a:t>revenue by route and train type</a:t>
            </a:r>
            <a:endParaRPr lang="en-US" sz="2300" dirty="0"/>
          </a:p>
          <a:p>
            <a:r>
              <a:rPr lang="en-US" sz="2300" b="1" dirty="0"/>
              <a:t>📊 5️⃣ Analysts / Students</a:t>
            </a:r>
          </a:p>
          <a:p>
            <a:r>
              <a:rPr lang="en-US" sz="2300" dirty="0"/>
              <a:t>To perform </a:t>
            </a:r>
            <a:r>
              <a:rPr lang="en-US" sz="2300" b="1" dirty="0"/>
              <a:t>data analysis</a:t>
            </a:r>
            <a:endParaRPr lang="en-US" sz="2300" dirty="0"/>
          </a:p>
          <a:p>
            <a:r>
              <a:rPr lang="en-US" sz="2300" dirty="0"/>
              <a:t>To prepare </a:t>
            </a:r>
            <a:r>
              <a:rPr lang="en-US" sz="2300" b="1" dirty="0"/>
              <a:t>reports, assignments, and presentations</a:t>
            </a:r>
            <a:endParaRPr lang="en-US" sz="2300" dirty="0"/>
          </a:p>
          <a:p>
            <a:endParaRPr lang="en-IN" dirty="0"/>
          </a:p>
        </p:txBody>
      </p:sp>
    </p:spTree>
    <p:extLst>
      <p:ext uri="{BB962C8B-B14F-4D97-AF65-F5344CB8AC3E}">
        <p14:creationId xmlns:p14="http://schemas.microsoft.com/office/powerpoint/2010/main" val="1253630742"/>
      </p:ext>
    </p:extLst>
  </p:cSld>
  <p:clrMapOvr>
    <a:masterClrMapping/>
  </p:clrMapOvr>
  <p:transition spd="slow" advTm="1000">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F94D4-A489-A454-5F2F-206392D2E262}"/>
              </a:ext>
            </a:extLst>
          </p:cNvPr>
          <p:cNvSpPr>
            <a:spLocks noGrp="1"/>
          </p:cNvSpPr>
          <p:nvPr>
            <p:ph type="title"/>
          </p:nvPr>
        </p:nvSpPr>
        <p:spPr>
          <a:xfrm>
            <a:off x="2171700" y="78658"/>
            <a:ext cx="6377940" cy="884903"/>
          </a:xfrm>
        </p:spPr>
        <p:txBody>
          <a:bodyPr/>
          <a:lstStyle/>
          <a:p>
            <a:r>
              <a:rPr lang="en-US" dirty="0"/>
              <a:t>Data Overview</a:t>
            </a:r>
            <a:endParaRPr lang="en-IN" dirty="0"/>
          </a:p>
        </p:txBody>
      </p:sp>
      <p:sp>
        <p:nvSpPr>
          <p:cNvPr id="3" name="Content Placeholder 2">
            <a:extLst>
              <a:ext uri="{FF2B5EF4-FFF2-40B4-BE49-F238E27FC236}">
                <a16:creationId xmlns:a16="http://schemas.microsoft.com/office/drawing/2014/main" id="{EBB38850-A5D4-39B8-76DA-35920C1B0C66}"/>
              </a:ext>
            </a:extLst>
          </p:cNvPr>
          <p:cNvSpPr>
            <a:spLocks noGrp="1"/>
          </p:cNvSpPr>
          <p:nvPr>
            <p:ph idx="1"/>
          </p:nvPr>
        </p:nvSpPr>
        <p:spPr>
          <a:xfrm>
            <a:off x="594360" y="963561"/>
            <a:ext cx="7955280" cy="5378245"/>
          </a:xfrm>
        </p:spPr>
        <p:txBody>
          <a:bodyPr/>
          <a:lstStyle/>
          <a:p>
            <a:r>
              <a:rPr lang="en-US" sz="2800" b="1" dirty="0"/>
              <a:t>🔹 Dataset Details </a:t>
            </a:r>
          </a:p>
          <a:p>
            <a:r>
              <a:rPr lang="en-US" sz="2800" b="1" dirty="0"/>
              <a:t>Data Source:</a:t>
            </a:r>
            <a:r>
              <a:rPr lang="en-US" sz="2800" dirty="0"/>
              <a:t> Railway operational dataset (Excel file)</a:t>
            </a:r>
          </a:p>
          <a:p>
            <a:r>
              <a:rPr lang="en-US" sz="2800" b="1" dirty="0"/>
              <a:t>Number of Records:</a:t>
            </a:r>
            <a:r>
              <a:rPr lang="en-US" sz="2800" dirty="0"/>
              <a:t> 500+ train records</a:t>
            </a:r>
          </a:p>
          <a:p>
            <a:r>
              <a:rPr lang="en-US" sz="2800" b="1" dirty="0"/>
              <a:t>Type of Data:</a:t>
            </a:r>
            <a:r>
              <a:rPr lang="en-US" sz="2800" dirty="0"/>
              <a:t> Structured tabular data</a:t>
            </a:r>
          </a:p>
          <a:p>
            <a:r>
              <a:rPr lang="en-US" sz="2800" b="1" dirty="0"/>
              <a:t>Time-Based Data:</a:t>
            </a:r>
            <a:r>
              <a:rPr lang="en-US" sz="2800" dirty="0"/>
              <a:t> Scheduled and actual departure &amp; arrival times</a:t>
            </a:r>
          </a:p>
          <a:p>
            <a:r>
              <a:rPr lang="en-US" sz="2800" b="1" dirty="0"/>
              <a:t>Data Taken</a:t>
            </a:r>
            <a:r>
              <a:rPr lang="en-US" sz="2800" dirty="0"/>
              <a:t>: I have taken data through online platform</a:t>
            </a:r>
          </a:p>
          <a:p>
            <a:endParaRPr lang="en-IN" dirty="0"/>
          </a:p>
        </p:txBody>
      </p:sp>
    </p:spTree>
    <p:extLst>
      <p:ext uri="{BB962C8B-B14F-4D97-AF65-F5344CB8AC3E}">
        <p14:creationId xmlns:p14="http://schemas.microsoft.com/office/powerpoint/2010/main" val="718430369"/>
      </p:ext>
    </p:extLst>
  </p:cSld>
  <p:clrMapOvr>
    <a:masterClrMapping/>
  </p:clrMapOvr>
  <p:transition spd="slow" advTm="1000">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B5E38-27F6-12F8-B5BF-D789D99ECFD1}"/>
              </a:ext>
            </a:extLst>
          </p:cNvPr>
          <p:cNvSpPr>
            <a:spLocks noGrp="1"/>
          </p:cNvSpPr>
          <p:nvPr>
            <p:ph type="title"/>
          </p:nvPr>
        </p:nvSpPr>
        <p:spPr>
          <a:xfrm>
            <a:off x="2171700" y="0"/>
            <a:ext cx="6377940" cy="589935"/>
          </a:xfrm>
        </p:spPr>
        <p:txBody>
          <a:bodyPr>
            <a:normAutofit/>
          </a:bodyPr>
          <a:lstStyle/>
          <a:p>
            <a:r>
              <a:rPr lang="en-US" sz="3200" dirty="0"/>
              <a:t>Dataset Size &amp; Key Fields</a:t>
            </a:r>
            <a:endParaRPr lang="en-IN" sz="3200" dirty="0"/>
          </a:p>
        </p:txBody>
      </p:sp>
      <p:sp>
        <p:nvSpPr>
          <p:cNvPr id="3" name="Content Placeholder 2">
            <a:extLst>
              <a:ext uri="{FF2B5EF4-FFF2-40B4-BE49-F238E27FC236}">
                <a16:creationId xmlns:a16="http://schemas.microsoft.com/office/drawing/2014/main" id="{70010CBE-3B5C-3B3C-20EF-7C6D31CB51DC}"/>
              </a:ext>
            </a:extLst>
          </p:cNvPr>
          <p:cNvSpPr>
            <a:spLocks noGrp="1"/>
          </p:cNvSpPr>
          <p:nvPr>
            <p:ph sz="half" idx="1"/>
          </p:nvPr>
        </p:nvSpPr>
        <p:spPr>
          <a:xfrm>
            <a:off x="594360" y="1170039"/>
            <a:ext cx="3910579" cy="2713703"/>
          </a:xfrm>
        </p:spPr>
        <p:txBody>
          <a:bodyPr>
            <a:normAutofit lnSpcReduction="10000"/>
          </a:bodyPr>
          <a:lstStyle/>
          <a:p>
            <a:r>
              <a:rPr lang="en-US" dirty="0"/>
              <a:t>Dataset size</a:t>
            </a:r>
          </a:p>
          <a:p>
            <a:r>
              <a:rPr lang="en-IN" dirty="0"/>
              <a:t>Number of rows – 500</a:t>
            </a:r>
          </a:p>
          <a:p>
            <a:r>
              <a:rPr lang="en-IN" dirty="0"/>
              <a:t>Number of columns – 14</a:t>
            </a:r>
          </a:p>
          <a:p>
            <a:r>
              <a:rPr lang="en-IN" dirty="0"/>
              <a:t>Data Format – Excel (.xlsx)</a:t>
            </a:r>
          </a:p>
          <a:p>
            <a:r>
              <a:rPr lang="en-IN" dirty="0"/>
              <a:t>Data Type – Structured tabular data</a:t>
            </a:r>
          </a:p>
        </p:txBody>
      </p:sp>
      <p:sp>
        <p:nvSpPr>
          <p:cNvPr id="4" name="Content Placeholder 3">
            <a:extLst>
              <a:ext uri="{FF2B5EF4-FFF2-40B4-BE49-F238E27FC236}">
                <a16:creationId xmlns:a16="http://schemas.microsoft.com/office/drawing/2014/main" id="{B62AE753-4A0B-18C5-5103-E1E38755506F}"/>
              </a:ext>
            </a:extLst>
          </p:cNvPr>
          <p:cNvSpPr>
            <a:spLocks noGrp="1"/>
          </p:cNvSpPr>
          <p:nvPr>
            <p:ph sz="half" idx="2"/>
          </p:nvPr>
        </p:nvSpPr>
        <p:spPr>
          <a:xfrm>
            <a:off x="4642099" y="491613"/>
            <a:ext cx="3907540" cy="6243484"/>
          </a:xfrm>
        </p:spPr>
        <p:txBody>
          <a:bodyPr>
            <a:normAutofit lnSpcReduction="10000"/>
          </a:bodyPr>
          <a:lstStyle/>
          <a:p>
            <a:r>
              <a:rPr lang="en-US" sz="1800" dirty="0"/>
              <a:t>Key Fields</a:t>
            </a:r>
          </a:p>
          <a:p>
            <a:r>
              <a:rPr lang="en-US" sz="1100" b="1" dirty="0"/>
              <a:t>Train-Related Fields</a:t>
            </a:r>
          </a:p>
          <a:p>
            <a:r>
              <a:rPr lang="en-US" sz="1100" b="1" dirty="0"/>
              <a:t>Train_ID</a:t>
            </a:r>
            <a:r>
              <a:rPr lang="en-US" sz="1100" dirty="0"/>
              <a:t> – Uniquely identifies each train</a:t>
            </a:r>
          </a:p>
          <a:p>
            <a:r>
              <a:rPr lang="en-US" sz="1100" b="1" dirty="0"/>
              <a:t>Train_Name</a:t>
            </a:r>
            <a:r>
              <a:rPr lang="en-US" sz="1100" dirty="0"/>
              <a:t> – Name of the train</a:t>
            </a:r>
          </a:p>
          <a:p>
            <a:r>
              <a:rPr lang="en-US" sz="1100" b="1" dirty="0"/>
              <a:t>Train_Type</a:t>
            </a:r>
            <a:r>
              <a:rPr lang="en-US" sz="1100" dirty="0"/>
              <a:t> – Type of train (Express, Passenger, Superfast)</a:t>
            </a:r>
          </a:p>
          <a:p>
            <a:endParaRPr lang="en-US" sz="1100" dirty="0"/>
          </a:p>
          <a:p>
            <a:r>
              <a:rPr lang="en-US" sz="1100" b="1" dirty="0"/>
              <a:t>Route-Related Fields</a:t>
            </a:r>
          </a:p>
          <a:p>
            <a:r>
              <a:rPr lang="en-US" sz="1100" b="1" dirty="0"/>
              <a:t>Route</a:t>
            </a:r>
            <a:r>
              <a:rPr lang="en-US" sz="1100" dirty="0"/>
              <a:t> – Railway zone (North, South, East, West)</a:t>
            </a:r>
          </a:p>
          <a:p>
            <a:r>
              <a:rPr lang="en-US" sz="1100" b="1" dirty="0"/>
              <a:t>Source</a:t>
            </a:r>
            <a:r>
              <a:rPr lang="en-US" sz="1100" dirty="0"/>
              <a:t> – Starting station</a:t>
            </a:r>
          </a:p>
          <a:p>
            <a:r>
              <a:rPr lang="en-US" sz="1100" b="1" dirty="0"/>
              <a:t>Destination</a:t>
            </a:r>
            <a:r>
              <a:rPr lang="en-US" sz="1100" dirty="0"/>
              <a:t> – Ending station</a:t>
            </a:r>
          </a:p>
          <a:p>
            <a:r>
              <a:rPr lang="en-US" sz="1100" b="1" dirty="0"/>
              <a:t>Distance_KM</a:t>
            </a:r>
            <a:r>
              <a:rPr lang="en-US" sz="1100" dirty="0"/>
              <a:t> – Distance travelled by train</a:t>
            </a:r>
          </a:p>
          <a:p>
            <a:endParaRPr lang="en-US" sz="1100" dirty="0"/>
          </a:p>
          <a:p>
            <a:r>
              <a:rPr lang="en-US" sz="1100" b="1" dirty="0"/>
              <a:t>Time &amp; Delay Fields</a:t>
            </a:r>
          </a:p>
          <a:p>
            <a:r>
              <a:rPr lang="en-US" sz="1100" b="1" dirty="0"/>
              <a:t>Scheduled_Departure</a:t>
            </a:r>
            <a:r>
              <a:rPr lang="en-US" sz="1100" dirty="0"/>
              <a:t> – Planned departure time</a:t>
            </a:r>
          </a:p>
          <a:p>
            <a:r>
              <a:rPr lang="en-US" sz="1100" b="1" dirty="0"/>
              <a:t>Scheduled_Arrival</a:t>
            </a:r>
            <a:r>
              <a:rPr lang="en-US" sz="1100" dirty="0"/>
              <a:t> – Planned arrival time</a:t>
            </a:r>
          </a:p>
          <a:p>
            <a:r>
              <a:rPr lang="en-US" sz="1100" b="1" dirty="0"/>
              <a:t>Actual_Departure</a:t>
            </a:r>
            <a:r>
              <a:rPr lang="en-US" sz="1100" dirty="0"/>
              <a:t> – Actual departure time</a:t>
            </a:r>
          </a:p>
          <a:p>
            <a:r>
              <a:rPr lang="en-US" sz="1100" b="1" dirty="0"/>
              <a:t>Actual_Arrival</a:t>
            </a:r>
            <a:r>
              <a:rPr lang="en-US" sz="1100" dirty="0"/>
              <a:t> – Actual arrival time</a:t>
            </a:r>
          </a:p>
          <a:p>
            <a:r>
              <a:rPr lang="en-US" sz="1100" b="1" dirty="0"/>
              <a:t>Delay_Minutes</a:t>
            </a:r>
            <a:r>
              <a:rPr lang="en-US" sz="1100" dirty="0"/>
              <a:t> – Delay in minutes</a:t>
            </a:r>
          </a:p>
          <a:p>
            <a:endParaRPr lang="en-US" sz="1100" dirty="0"/>
          </a:p>
          <a:p>
            <a:r>
              <a:rPr lang="en-US" sz="1100" b="1" dirty="0"/>
              <a:t>Passenger &amp; Revenue Fields</a:t>
            </a:r>
          </a:p>
          <a:p>
            <a:r>
              <a:rPr lang="en-US" sz="1100" b="1" dirty="0"/>
              <a:t>Passengers</a:t>
            </a:r>
            <a:r>
              <a:rPr lang="en-US" sz="1100" dirty="0"/>
              <a:t> – Number of passengers travelling</a:t>
            </a:r>
          </a:p>
          <a:p>
            <a:r>
              <a:rPr lang="en-US" sz="1100" b="1" dirty="0"/>
              <a:t>Ticket_Revenue</a:t>
            </a:r>
            <a:r>
              <a:rPr lang="en-US" sz="1100" dirty="0"/>
              <a:t> – Revenue generated from tickets</a:t>
            </a:r>
          </a:p>
          <a:p>
            <a:endParaRPr lang="en-US" sz="1100" dirty="0"/>
          </a:p>
          <a:p>
            <a:endParaRPr lang="en-US" sz="1100" dirty="0"/>
          </a:p>
          <a:p>
            <a:endParaRPr lang="en-US" sz="1100" dirty="0"/>
          </a:p>
          <a:p>
            <a:endParaRPr lang="en-US" sz="1200" dirty="0"/>
          </a:p>
          <a:p>
            <a:endParaRPr lang="en-US" sz="1200" dirty="0"/>
          </a:p>
          <a:p>
            <a:endParaRPr lang="en-US" sz="1200" dirty="0"/>
          </a:p>
          <a:p>
            <a:endParaRPr lang="en-US" sz="1200" dirty="0"/>
          </a:p>
          <a:p>
            <a:endParaRPr lang="en-US" dirty="0"/>
          </a:p>
          <a:p>
            <a:endParaRPr lang="en-IN" dirty="0"/>
          </a:p>
        </p:txBody>
      </p:sp>
    </p:spTree>
    <p:extLst>
      <p:ext uri="{BB962C8B-B14F-4D97-AF65-F5344CB8AC3E}">
        <p14:creationId xmlns:p14="http://schemas.microsoft.com/office/powerpoint/2010/main" val="2946055651"/>
      </p:ext>
    </p:extLst>
  </p:cSld>
  <p:clrMapOvr>
    <a:masterClrMapping/>
  </p:clrMapOvr>
  <p:transition spd="slow" advTm="1000">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8C2EE-CCCE-7363-29C9-B4B6030A404D}"/>
              </a:ext>
            </a:extLst>
          </p:cNvPr>
          <p:cNvSpPr>
            <a:spLocks noGrp="1"/>
          </p:cNvSpPr>
          <p:nvPr>
            <p:ph type="title"/>
          </p:nvPr>
        </p:nvSpPr>
        <p:spPr>
          <a:xfrm>
            <a:off x="2171700" y="0"/>
            <a:ext cx="6377940" cy="865239"/>
          </a:xfrm>
        </p:spPr>
        <p:txBody>
          <a:bodyPr>
            <a:normAutofit/>
          </a:bodyPr>
          <a:lstStyle/>
          <a:p>
            <a:r>
              <a:rPr lang="en-US" sz="2800" dirty="0"/>
              <a:t>How power query is used</a:t>
            </a:r>
            <a:endParaRPr lang="en-IN" sz="2800" dirty="0"/>
          </a:p>
        </p:txBody>
      </p:sp>
      <p:sp>
        <p:nvSpPr>
          <p:cNvPr id="3" name="Content Placeholder 2">
            <a:extLst>
              <a:ext uri="{FF2B5EF4-FFF2-40B4-BE49-F238E27FC236}">
                <a16:creationId xmlns:a16="http://schemas.microsoft.com/office/drawing/2014/main" id="{D3CC0218-5F6F-B0B0-2CBB-98926428937F}"/>
              </a:ext>
            </a:extLst>
          </p:cNvPr>
          <p:cNvSpPr>
            <a:spLocks noGrp="1"/>
          </p:cNvSpPr>
          <p:nvPr>
            <p:ph idx="1"/>
          </p:nvPr>
        </p:nvSpPr>
        <p:spPr>
          <a:xfrm>
            <a:off x="594360" y="766916"/>
            <a:ext cx="7955280" cy="5496724"/>
          </a:xfrm>
        </p:spPr>
        <p:txBody>
          <a:bodyPr/>
          <a:lstStyle/>
          <a:p>
            <a:r>
              <a:rPr lang="en-US" dirty="0"/>
              <a:t>In Power Query, we cleaned and prepared the railway data by renaming columns, changing data types, handling missing values, creating delay columns and groups, and then loading the cleaned data for analysis.”</a:t>
            </a:r>
          </a:p>
          <a:p>
            <a:r>
              <a:rPr lang="en-US" b="1" dirty="0"/>
              <a:t> Power Query Used in This Project </a:t>
            </a:r>
          </a:p>
          <a:p>
            <a:r>
              <a:rPr lang="en-US" dirty="0"/>
              <a:t>Renamed columns for better understanding</a:t>
            </a:r>
          </a:p>
          <a:p>
            <a:r>
              <a:rPr lang="en-US" dirty="0"/>
              <a:t>Changed data types (Date/Time, Number)</a:t>
            </a:r>
          </a:p>
          <a:p>
            <a:r>
              <a:rPr lang="en-US" dirty="0"/>
              <a:t>Removed blank and error values</a:t>
            </a:r>
          </a:p>
          <a:p>
            <a:r>
              <a:rPr lang="en-US" dirty="0"/>
              <a:t>Created delay column and delay groups</a:t>
            </a:r>
          </a:p>
          <a:p>
            <a:r>
              <a:rPr lang="en-US" dirty="0"/>
              <a:t>Extracted date and time from datetime fields</a:t>
            </a:r>
          </a:p>
          <a:p>
            <a:r>
              <a:rPr lang="en-US" dirty="0"/>
              <a:t>Sorted and filtered data</a:t>
            </a:r>
          </a:p>
          <a:p>
            <a:r>
              <a:rPr lang="en-US" dirty="0"/>
              <a:t>Loaded cleaned data into Power BI</a:t>
            </a:r>
          </a:p>
          <a:p>
            <a:endParaRPr lang="en-US" dirty="0"/>
          </a:p>
          <a:p>
            <a:endParaRPr lang="en-IN" dirty="0"/>
          </a:p>
        </p:txBody>
      </p:sp>
    </p:spTree>
    <p:extLst>
      <p:ext uri="{BB962C8B-B14F-4D97-AF65-F5344CB8AC3E}">
        <p14:creationId xmlns:p14="http://schemas.microsoft.com/office/powerpoint/2010/main" val="2825133733"/>
      </p:ext>
    </p:extLst>
  </p:cSld>
  <p:clrMapOvr>
    <a:masterClrMapping/>
  </p:clrMapOvr>
  <p:transition spd="slow" advTm="1000">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1700" y="176982"/>
            <a:ext cx="6377940" cy="540774"/>
          </a:xfrm>
        </p:spPr>
        <p:txBody>
          <a:bodyPr>
            <a:noAutofit/>
          </a:bodyPr>
          <a:lstStyle/>
          <a:p>
            <a:r>
              <a:rPr sz="3200" dirty="0"/>
              <a:t>Key Measures Explanation (DAX)</a:t>
            </a:r>
          </a:p>
        </p:txBody>
      </p:sp>
      <p:sp>
        <p:nvSpPr>
          <p:cNvPr id="3" name="Content Placeholder 2"/>
          <p:cNvSpPr>
            <a:spLocks noGrp="1"/>
          </p:cNvSpPr>
          <p:nvPr>
            <p:ph idx="1"/>
          </p:nvPr>
        </p:nvSpPr>
        <p:spPr>
          <a:xfrm>
            <a:off x="108155" y="904569"/>
            <a:ext cx="9035845" cy="5687960"/>
          </a:xfrm>
        </p:spPr>
        <p:txBody>
          <a:bodyPr>
            <a:normAutofit fontScale="25000" lnSpcReduction="20000"/>
          </a:bodyPr>
          <a:lstStyle/>
          <a:p>
            <a:r>
              <a:rPr sz="4400" dirty="0"/>
              <a:t>Key Measures are calculations created using DAX.</a:t>
            </a:r>
          </a:p>
          <a:p>
            <a:pPr marL="0" indent="0">
              <a:buNone/>
            </a:pPr>
            <a:endParaRPr sz="4400" dirty="0"/>
          </a:p>
          <a:p>
            <a:r>
              <a:rPr sz="4400" dirty="0"/>
              <a:t>Important Key Measures used:</a:t>
            </a:r>
          </a:p>
          <a:p>
            <a:r>
              <a:rPr sz="4400" dirty="0"/>
              <a:t>- Total Trains</a:t>
            </a:r>
            <a:r>
              <a:rPr lang="en-US" sz="4400" dirty="0"/>
              <a:t>: DISTINCTCOUNT(Railway_Data[Train_ID])</a:t>
            </a:r>
          </a:p>
          <a:p>
            <a:endParaRPr sz="4400" dirty="0"/>
          </a:p>
          <a:p>
            <a:r>
              <a:rPr sz="4400" dirty="0"/>
              <a:t>- Total Passengers</a:t>
            </a:r>
            <a:r>
              <a:rPr lang="en-US" sz="4400" dirty="0"/>
              <a:t>: </a:t>
            </a:r>
            <a:r>
              <a:rPr lang="en-IN" sz="4400" dirty="0"/>
              <a:t> SUM(Railway_Data[Passengers])</a:t>
            </a:r>
          </a:p>
          <a:p>
            <a:endParaRPr sz="4400" dirty="0"/>
          </a:p>
          <a:p>
            <a:r>
              <a:rPr sz="4400" dirty="0"/>
              <a:t>- Total Revenue</a:t>
            </a:r>
            <a:r>
              <a:rPr lang="en-US" sz="4400" dirty="0"/>
              <a:t>: SUM(Railway_Data[Ticket_Revenue])</a:t>
            </a:r>
          </a:p>
          <a:p>
            <a:endParaRPr sz="4400" dirty="0"/>
          </a:p>
          <a:p>
            <a:r>
              <a:rPr sz="4400" dirty="0"/>
              <a:t>- Average Delay</a:t>
            </a:r>
            <a:r>
              <a:rPr lang="en-US" sz="4400" dirty="0"/>
              <a:t>: AVERAGE(Railway_Data[Delay_Minutes])</a:t>
            </a:r>
          </a:p>
          <a:p>
            <a:endParaRPr sz="4400" dirty="0"/>
          </a:p>
          <a:p>
            <a:r>
              <a:rPr sz="4400" dirty="0"/>
              <a:t>- On-Time Trains</a:t>
            </a:r>
            <a:r>
              <a:rPr lang="en-US" sz="4400" dirty="0"/>
              <a:t>:  CALCULATE(COUNT(Railway_Data[Train_ID]),Railway_Data[Delay_Minutes] = 0)</a:t>
            </a:r>
          </a:p>
          <a:p>
            <a:endParaRPr sz="4400" dirty="0"/>
          </a:p>
          <a:p>
            <a:r>
              <a:rPr sz="4400" dirty="0"/>
              <a:t>- Delayed Trains</a:t>
            </a:r>
            <a:r>
              <a:rPr lang="en-US" sz="4400" dirty="0"/>
              <a:t>:  CALCULATE(COUNT(Railway_Data[Train_ID]),Railway_Data[Delay_Minutes] &gt; 0)</a:t>
            </a:r>
          </a:p>
          <a:p>
            <a:endParaRPr sz="4400" dirty="0"/>
          </a:p>
          <a:p>
            <a:r>
              <a:rPr sz="4400" dirty="0"/>
              <a:t>- On-Time Percentage</a:t>
            </a:r>
            <a:r>
              <a:rPr lang="en-US" sz="4400" dirty="0"/>
              <a:t>: </a:t>
            </a:r>
            <a:r>
              <a:rPr lang="en-IN" sz="4400" dirty="0"/>
              <a:t> DIVIDE([On-Time Trains],[Total Trains])*100</a:t>
            </a:r>
          </a:p>
          <a:p>
            <a:endParaRPr sz="4400" dirty="0"/>
          </a:p>
          <a:p>
            <a:r>
              <a:rPr sz="4400" dirty="0"/>
              <a:t>- Maximum Delay</a:t>
            </a:r>
            <a:r>
              <a:rPr lang="en-US" sz="4400" dirty="0"/>
              <a:t>:  MAX(Railway_Data[Delay_Minutes])</a:t>
            </a:r>
          </a:p>
          <a:p>
            <a:endParaRPr lang="en-US" sz="4400" dirty="0"/>
          </a:p>
          <a:p>
            <a:r>
              <a:rPr lang="en-IN" sz="4400" dirty="0"/>
              <a:t>Avg Passengers Per Train = AVERAGE(Railway_Data[Passengers])</a:t>
            </a:r>
          </a:p>
          <a:p>
            <a:endParaRPr lang="en-US" sz="4400" dirty="0"/>
          </a:p>
          <a:p>
            <a:r>
              <a:rPr lang="fr-FR" sz="4400" dirty="0"/>
              <a:t>Revenue per Passenger = DIVIDE([Total Revenue],[Total Passengers])</a:t>
            </a:r>
          </a:p>
          <a:p>
            <a:endParaRPr lang="en-US" sz="4400" dirty="0"/>
          </a:p>
          <a:p>
            <a:r>
              <a:rPr lang="en-US" sz="4400" dirty="0"/>
              <a:t>Trains Delay &gt; 30 = CALCULATE(COUNT(Railway_Data[Train_ID]),Railway_Data[Delay_Minutes] &gt; 30)</a:t>
            </a:r>
          </a:p>
          <a:p>
            <a:endParaRPr lang="en-US" sz="4400" dirty="0"/>
          </a:p>
          <a:p>
            <a:endParaRPr lang="en-US" dirty="0"/>
          </a:p>
          <a:p>
            <a:pPr marL="0" indent="0">
              <a:buNone/>
            </a:pPr>
            <a:endParaRPr sz="2000" dirty="0"/>
          </a:p>
          <a:p>
            <a:endParaRPr sz="2000" dirty="0"/>
          </a:p>
          <a:p>
            <a:r>
              <a:rPr sz="2000" dirty="0"/>
              <a:t>Key Measures are hidden to keep the dashboard clean and professional</a:t>
            </a:r>
            <a:r>
              <a:rPr dirty="0"/>
              <a:t>.</a:t>
            </a:r>
          </a:p>
        </p:txBody>
      </p:sp>
    </p:spTree>
  </p:cSld>
  <p:clrMapOvr>
    <a:masterClrMapping/>
  </p:clrMapOvr>
  <p:transition spd="slow" advTm="1000">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1700" y="334297"/>
            <a:ext cx="6377940" cy="698090"/>
          </a:xfrm>
        </p:spPr>
        <p:txBody>
          <a:bodyPr>
            <a:normAutofit fontScale="90000"/>
          </a:bodyPr>
          <a:lstStyle/>
          <a:p>
            <a:r>
              <a:rPr dirty="0"/>
              <a:t>Home Page – Navigation Dashboard</a:t>
            </a:r>
          </a:p>
        </p:txBody>
      </p:sp>
      <p:pic>
        <p:nvPicPr>
          <p:cNvPr id="3" name="Picture 2" descr="Screenshot 2026-01-18 142805.png"/>
          <p:cNvPicPr>
            <a:picLocks noChangeAspect="1"/>
          </p:cNvPicPr>
          <p:nvPr/>
        </p:nvPicPr>
        <p:blipFill>
          <a:blip r:embed="rId2"/>
          <a:stretch>
            <a:fillRect/>
          </a:stretch>
        </p:blipFill>
        <p:spPr>
          <a:xfrm>
            <a:off x="172063" y="1130710"/>
            <a:ext cx="8794956" cy="2792361"/>
          </a:xfrm>
          <a:prstGeom prst="rect">
            <a:avLst/>
          </a:prstGeom>
        </p:spPr>
      </p:pic>
      <p:sp>
        <p:nvSpPr>
          <p:cNvPr id="4" name="TextBox 3"/>
          <p:cNvSpPr txBox="1"/>
          <p:nvPr/>
        </p:nvSpPr>
        <p:spPr>
          <a:xfrm>
            <a:off x="894734" y="4281948"/>
            <a:ext cx="3844414" cy="2462213"/>
          </a:xfrm>
          <a:prstGeom prst="rect">
            <a:avLst/>
          </a:prstGeom>
          <a:noFill/>
        </p:spPr>
        <p:txBody>
          <a:bodyPr wrap="square">
            <a:spAutoFit/>
          </a:bodyPr>
          <a:lstStyle/>
          <a:p>
            <a:r>
              <a:rPr sz="1400" dirty="0"/>
              <a:t>This is the Home Page of the dashboard.</a:t>
            </a:r>
          </a:p>
          <a:p>
            <a:endParaRPr sz="1400" dirty="0"/>
          </a:p>
          <a:p>
            <a:r>
              <a:rPr sz="1400" dirty="0"/>
              <a:t>It is used only for navigation.</a:t>
            </a:r>
          </a:p>
          <a:p>
            <a:endParaRPr sz="1400" dirty="0"/>
          </a:p>
          <a:p>
            <a:r>
              <a:rPr sz="1400" dirty="0"/>
              <a:t>Buttons are provided to move to:</a:t>
            </a:r>
          </a:p>
          <a:p>
            <a:r>
              <a:rPr sz="1400" dirty="0"/>
              <a:t>- Railway Overview</a:t>
            </a:r>
          </a:p>
          <a:p>
            <a:r>
              <a:rPr sz="1400" dirty="0"/>
              <a:t>- Train Performance Analysis</a:t>
            </a:r>
          </a:p>
          <a:p>
            <a:r>
              <a:rPr sz="1400" dirty="0"/>
              <a:t>- Route &amp; Passenger Analysis</a:t>
            </a:r>
          </a:p>
          <a:p>
            <a:r>
              <a:rPr sz="1400" dirty="0"/>
              <a:t>- Delay &amp; Time Analysis</a:t>
            </a:r>
          </a:p>
          <a:p>
            <a:endParaRPr sz="1400" dirty="0"/>
          </a:p>
          <a:p>
            <a:r>
              <a:rPr sz="1400" dirty="0"/>
              <a:t>This makes the dashboard easy to use.</a:t>
            </a:r>
          </a:p>
        </p:txBody>
      </p:sp>
    </p:spTree>
  </p:cSld>
  <p:clrMapOvr>
    <a:masterClrMapping/>
  </p:clrMapOvr>
  <p:transition spd="slow" advTm="1000">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1700" y="764373"/>
            <a:ext cx="6377940" cy="309252"/>
          </a:xfrm>
        </p:spPr>
        <p:txBody>
          <a:bodyPr>
            <a:normAutofit fontScale="90000"/>
          </a:bodyPr>
          <a:lstStyle/>
          <a:p>
            <a:r>
              <a:rPr dirty="0"/>
              <a:t>Railway Overview Dashboard</a:t>
            </a:r>
          </a:p>
        </p:txBody>
      </p:sp>
      <p:pic>
        <p:nvPicPr>
          <p:cNvPr id="3" name="Picture 2" descr="Screenshot 2026-01-18 142831.png"/>
          <p:cNvPicPr>
            <a:picLocks noChangeAspect="1"/>
          </p:cNvPicPr>
          <p:nvPr/>
        </p:nvPicPr>
        <p:blipFill>
          <a:blip r:embed="rId2"/>
          <a:stretch>
            <a:fillRect/>
          </a:stretch>
        </p:blipFill>
        <p:spPr>
          <a:xfrm>
            <a:off x="703006" y="1376516"/>
            <a:ext cx="7536426" cy="2392374"/>
          </a:xfrm>
          <a:prstGeom prst="rect">
            <a:avLst/>
          </a:prstGeom>
        </p:spPr>
      </p:pic>
      <p:sp>
        <p:nvSpPr>
          <p:cNvPr id="4" name="TextBox 3"/>
          <p:cNvSpPr txBox="1"/>
          <p:nvPr/>
        </p:nvSpPr>
        <p:spPr>
          <a:xfrm>
            <a:off x="890803" y="3998039"/>
            <a:ext cx="5834462" cy="2585323"/>
          </a:xfrm>
          <a:prstGeom prst="rect">
            <a:avLst/>
          </a:prstGeom>
          <a:noFill/>
        </p:spPr>
        <p:txBody>
          <a:bodyPr wrap="square">
            <a:spAutoFit/>
          </a:bodyPr>
          <a:lstStyle/>
          <a:p>
            <a:r>
              <a:rPr dirty="0"/>
              <a:t>KEY MEASURES (CARDS):</a:t>
            </a:r>
          </a:p>
          <a:p>
            <a:r>
              <a:rPr dirty="0"/>
              <a:t>- Total Trains: Total number of trains</a:t>
            </a:r>
          </a:p>
          <a:p>
            <a:r>
              <a:rPr dirty="0"/>
              <a:t>- Total Passengers: Total passengers traveled</a:t>
            </a:r>
          </a:p>
          <a:p>
            <a:r>
              <a:rPr dirty="0"/>
              <a:t>- Average Delay: Average delay time in minutes</a:t>
            </a:r>
          </a:p>
          <a:p>
            <a:r>
              <a:rPr dirty="0"/>
              <a:t>- Total Revenue: Total ticket revenue</a:t>
            </a:r>
          </a:p>
          <a:p>
            <a:r>
              <a:rPr dirty="0"/>
              <a:t>- On-Time Trains: Trains running on time</a:t>
            </a:r>
          </a:p>
          <a:p>
            <a:r>
              <a:rPr dirty="0"/>
              <a:t>- Delayed Trains: Trains that are delayed</a:t>
            </a:r>
          </a:p>
          <a:p>
            <a:endParaRPr dirty="0"/>
          </a:p>
          <a:p>
            <a:r>
              <a:rPr dirty="0"/>
              <a:t>These cards give a quick summary of railway performance.</a:t>
            </a:r>
          </a:p>
        </p:txBody>
      </p:sp>
    </p:spTree>
  </p:cSld>
  <p:clrMapOvr>
    <a:masterClrMapping/>
  </p:clrMapOvr>
  <p:transition spd="slow" advTm="1000">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Railway Overview – Charts Explanation</a:t>
            </a:r>
          </a:p>
        </p:txBody>
      </p:sp>
      <p:sp>
        <p:nvSpPr>
          <p:cNvPr id="3" name="Content Placeholder 2"/>
          <p:cNvSpPr>
            <a:spLocks noGrp="1"/>
          </p:cNvSpPr>
          <p:nvPr>
            <p:ph idx="1"/>
          </p:nvPr>
        </p:nvSpPr>
        <p:spPr/>
        <p:txBody>
          <a:bodyPr>
            <a:normAutofit fontScale="77500" lnSpcReduction="20000"/>
          </a:bodyPr>
          <a:lstStyle/>
          <a:p>
            <a:r>
              <a:rPr dirty="0"/>
              <a:t>1. Donut Chart: Shows number of trains by Train Type (Express, Passenger, Superfast, Rajdhani).</a:t>
            </a:r>
          </a:p>
          <a:p>
            <a:endParaRPr dirty="0"/>
          </a:p>
          <a:p>
            <a:r>
              <a:rPr dirty="0"/>
              <a:t>2. Bar Chart: Shows Ticket Revenue by Route (North, South, East, West).</a:t>
            </a:r>
          </a:p>
          <a:p>
            <a:endParaRPr dirty="0"/>
          </a:p>
          <a:p>
            <a:r>
              <a:rPr dirty="0"/>
              <a:t>3. Table: Shows Train Name, Train Type, Route, and Revenue.</a:t>
            </a:r>
          </a:p>
          <a:p>
            <a:endParaRPr dirty="0"/>
          </a:p>
          <a:p>
            <a:r>
              <a:rPr dirty="0"/>
              <a:t>4. Gauge Chart: Shows Average Delay compared with Target Delay.</a:t>
            </a:r>
          </a:p>
          <a:p>
            <a:endParaRPr dirty="0"/>
          </a:p>
          <a:p>
            <a:r>
              <a:rPr dirty="0"/>
              <a:t>5. Treemap: Shows contribution of Revenue by Route and Train Type.</a:t>
            </a:r>
          </a:p>
          <a:p>
            <a:endParaRPr dirty="0"/>
          </a:p>
          <a:p>
            <a:r>
              <a:rPr dirty="0"/>
              <a:t>6. Line Chart: Shows trend of Passengers by Year.</a:t>
            </a:r>
          </a:p>
        </p:txBody>
      </p:sp>
    </p:spTree>
  </p:cSld>
  <p:clrMapOvr>
    <a:masterClrMapping/>
  </p:clrMapOvr>
  <p:transition spd="slow" advTm="1000">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1700" y="764373"/>
            <a:ext cx="6377940" cy="189356"/>
          </a:xfrm>
        </p:spPr>
        <p:txBody>
          <a:bodyPr>
            <a:noAutofit/>
          </a:bodyPr>
          <a:lstStyle/>
          <a:p>
            <a:r>
              <a:rPr sz="3200" dirty="0"/>
              <a:t>Train Performance Analysis Dashboard</a:t>
            </a:r>
          </a:p>
        </p:txBody>
      </p:sp>
      <p:pic>
        <p:nvPicPr>
          <p:cNvPr id="3" name="Picture 2" descr="Screenshot 2026-01-18 142905.png"/>
          <p:cNvPicPr>
            <a:picLocks noChangeAspect="1"/>
          </p:cNvPicPr>
          <p:nvPr/>
        </p:nvPicPr>
        <p:blipFill>
          <a:blip r:embed="rId2"/>
          <a:stretch>
            <a:fillRect/>
          </a:stretch>
        </p:blipFill>
        <p:spPr>
          <a:xfrm>
            <a:off x="457200" y="1417638"/>
            <a:ext cx="7605252" cy="2521004"/>
          </a:xfrm>
          <a:prstGeom prst="rect">
            <a:avLst/>
          </a:prstGeom>
        </p:spPr>
      </p:pic>
      <p:sp>
        <p:nvSpPr>
          <p:cNvPr id="4" name="TextBox 3"/>
          <p:cNvSpPr txBox="1"/>
          <p:nvPr/>
        </p:nvSpPr>
        <p:spPr>
          <a:xfrm>
            <a:off x="703989" y="4104968"/>
            <a:ext cx="8322024" cy="2585323"/>
          </a:xfrm>
          <a:prstGeom prst="rect">
            <a:avLst/>
          </a:prstGeom>
          <a:noFill/>
        </p:spPr>
        <p:txBody>
          <a:bodyPr wrap="square">
            <a:spAutoFit/>
          </a:bodyPr>
          <a:lstStyle/>
          <a:p>
            <a:r>
              <a:rPr sz="1600" dirty="0"/>
              <a:t>This page focuses on train performance.</a:t>
            </a:r>
          </a:p>
          <a:p>
            <a:endParaRPr sz="1600" dirty="0"/>
          </a:p>
          <a:p>
            <a:r>
              <a:rPr sz="1600" dirty="0"/>
              <a:t>Charts Explanation:</a:t>
            </a:r>
          </a:p>
          <a:p>
            <a:r>
              <a:rPr sz="1600" dirty="0"/>
              <a:t>- Stacked Column Chart: Compares On-Time and Delayed trains by Train Type.</a:t>
            </a:r>
          </a:p>
          <a:p>
            <a:r>
              <a:rPr sz="1600" dirty="0"/>
              <a:t>- Waterfall Chart: Shows Ticket Revenue contribution by each Train Type.</a:t>
            </a:r>
          </a:p>
          <a:p>
            <a:r>
              <a:rPr sz="1600" dirty="0"/>
              <a:t>- Scatter Chart: Shows relationship between Delay Minutes, Passengers, and Revenue.</a:t>
            </a:r>
          </a:p>
          <a:p>
            <a:r>
              <a:rPr sz="1600" dirty="0"/>
              <a:t>- Bar Chart: Shows total Delay Minutes by Train Type.</a:t>
            </a:r>
          </a:p>
          <a:p>
            <a:r>
              <a:rPr sz="1600" dirty="0"/>
              <a:t>- Gauge Chart: Shows On-Time Percentage with Target.</a:t>
            </a:r>
          </a:p>
          <a:p>
            <a:r>
              <a:rPr sz="1600" dirty="0"/>
              <a:t>- Table: Shows Train-wise Delay Minutes and Passengers.</a:t>
            </a:r>
          </a:p>
        </p:txBody>
      </p:sp>
    </p:spTree>
  </p:cSld>
  <p:clrMapOvr>
    <a:masterClrMapping/>
  </p:clrMapOvr>
  <p:transition spd="slow" advTm="1000">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1700" y="764373"/>
            <a:ext cx="6377940" cy="140195"/>
          </a:xfrm>
        </p:spPr>
        <p:txBody>
          <a:bodyPr>
            <a:noAutofit/>
          </a:bodyPr>
          <a:lstStyle/>
          <a:p>
            <a:r>
              <a:rPr sz="3200" dirty="0"/>
              <a:t>Route &amp; Passenger Analysis Dashboard</a:t>
            </a:r>
          </a:p>
        </p:txBody>
      </p:sp>
      <p:pic>
        <p:nvPicPr>
          <p:cNvPr id="3" name="Picture 2" descr="Screenshot 2026-01-18 142924.png"/>
          <p:cNvPicPr>
            <a:picLocks noChangeAspect="1"/>
          </p:cNvPicPr>
          <p:nvPr/>
        </p:nvPicPr>
        <p:blipFill>
          <a:blip r:embed="rId2"/>
          <a:stretch>
            <a:fillRect/>
          </a:stretch>
        </p:blipFill>
        <p:spPr>
          <a:xfrm>
            <a:off x="457199" y="1371600"/>
            <a:ext cx="7054645" cy="2557842"/>
          </a:xfrm>
          <a:prstGeom prst="rect">
            <a:avLst/>
          </a:prstGeom>
        </p:spPr>
      </p:pic>
      <p:sp>
        <p:nvSpPr>
          <p:cNvPr id="4" name="TextBox 3"/>
          <p:cNvSpPr txBox="1"/>
          <p:nvPr/>
        </p:nvSpPr>
        <p:spPr>
          <a:xfrm>
            <a:off x="457200" y="3995678"/>
            <a:ext cx="8154875" cy="2862322"/>
          </a:xfrm>
          <a:prstGeom prst="rect">
            <a:avLst/>
          </a:prstGeom>
          <a:noFill/>
        </p:spPr>
        <p:txBody>
          <a:bodyPr wrap="square">
            <a:spAutoFit/>
          </a:bodyPr>
          <a:lstStyle/>
          <a:p>
            <a:r>
              <a:rPr sz="1600" dirty="0"/>
              <a:t>This page analyzes routes and passengers.</a:t>
            </a:r>
          </a:p>
          <a:p>
            <a:endParaRPr sz="1600" dirty="0"/>
          </a:p>
          <a:p>
            <a:r>
              <a:rPr sz="1600" dirty="0"/>
              <a:t>Charts Explanation:</a:t>
            </a:r>
          </a:p>
          <a:p>
            <a:r>
              <a:rPr sz="1600" dirty="0"/>
              <a:t>- Bar Chart: Shows total Passengers by Route.</a:t>
            </a:r>
          </a:p>
          <a:p>
            <a:r>
              <a:rPr sz="1600" dirty="0"/>
              <a:t>- Line Chart: Shows Passengers by Distance (KM).</a:t>
            </a:r>
          </a:p>
          <a:p>
            <a:r>
              <a:rPr sz="1600" dirty="0"/>
              <a:t>- 100% Stacked Column Chart: Shows average passengers by Route and Train Type.</a:t>
            </a:r>
          </a:p>
          <a:p>
            <a:r>
              <a:rPr sz="1600" dirty="0"/>
              <a:t>- Map Chart: Shows Ticket Revenue by Route.</a:t>
            </a:r>
          </a:p>
          <a:p>
            <a:r>
              <a:rPr sz="1600" dirty="0"/>
              <a:t>- Decomposition Tree: Shows how Total Revenue is divided by Source.</a:t>
            </a:r>
          </a:p>
          <a:p>
            <a:r>
              <a:rPr sz="1600" dirty="0"/>
              <a:t>- Line Chart: Shows Ticket Revenue trend by Year.</a:t>
            </a:r>
          </a:p>
          <a:p>
            <a:r>
              <a:rPr sz="1600" dirty="0"/>
              <a:t>- Slicers: Used to filter Route and Train Type.</a:t>
            </a:r>
          </a:p>
        </p:txBody>
      </p:sp>
    </p:spTree>
  </p:cSld>
  <p:clrMapOvr>
    <a:masterClrMapping/>
  </p:clrMapOvr>
  <p:transition spd="slow" advTm="1000">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9855" y="351418"/>
            <a:ext cx="6377940" cy="680969"/>
          </a:xfrm>
        </p:spPr>
        <p:txBody>
          <a:bodyPr>
            <a:normAutofit fontScale="90000"/>
          </a:bodyPr>
          <a:lstStyle/>
          <a:p>
            <a:r>
              <a:rPr dirty="0"/>
              <a:t>Delay &amp; Time Analysis Dashboard</a:t>
            </a:r>
          </a:p>
        </p:txBody>
      </p:sp>
      <p:pic>
        <p:nvPicPr>
          <p:cNvPr id="3" name="Picture 2" descr="Screenshot 2026-01-18 142940.png"/>
          <p:cNvPicPr>
            <a:picLocks noChangeAspect="1"/>
          </p:cNvPicPr>
          <p:nvPr/>
        </p:nvPicPr>
        <p:blipFill>
          <a:blip r:embed="rId2"/>
          <a:stretch>
            <a:fillRect/>
          </a:stretch>
        </p:blipFill>
        <p:spPr>
          <a:xfrm>
            <a:off x="457199" y="1268362"/>
            <a:ext cx="7644581" cy="2576052"/>
          </a:xfrm>
          <a:prstGeom prst="rect">
            <a:avLst/>
          </a:prstGeom>
        </p:spPr>
      </p:pic>
      <p:sp>
        <p:nvSpPr>
          <p:cNvPr id="4" name="TextBox 3"/>
          <p:cNvSpPr txBox="1"/>
          <p:nvPr/>
        </p:nvSpPr>
        <p:spPr>
          <a:xfrm>
            <a:off x="625332" y="3958761"/>
            <a:ext cx="6689868" cy="2554545"/>
          </a:xfrm>
          <a:prstGeom prst="rect">
            <a:avLst/>
          </a:prstGeom>
          <a:noFill/>
        </p:spPr>
        <p:txBody>
          <a:bodyPr wrap="square">
            <a:spAutoFit/>
          </a:bodyPr>
          <a:lstStyle/>
          <a:p>
            <a:r>
              <a:rPr sz="1600" dirty="0"/>
              <a:t>This page focuses on delay analysis.</a:t>
            </a:r>
          </a:p>
          <a:p>
            <a:endParaRPr sz="1600" dirty="0"/>
          </a:p>
          <a:p>
            <a:r>
              <a:rPr sz="1600" dirty="0"/>
              <a:t>Charts Explanation:</a:t>
            </a:r>
          </a:p>
          <a:p>
            <a:r>
              <a:rPr sz="1600" dirty="0"/>
              <a:t>- Card: Shows total Delay Minutes.</a:t>
            </a:r>
          </a:p>
          <a:p>
            <a:r>
              <a:rPr sz="1600" dirty="0"/>
              <a:t>- Line Chart: Shows count of arrivals by Year.</a:t>
            </a:r>
          </a:p>
          <a:p>
            <a:r>
              <a:rPr sz="1600" dirty="0"/>
              <a:t>- KPI Visual: Shows Average Delay.</a:t>
            </a:r>
          </a:p>
          <a:p>
            <a:r>
              <a:rPr sz="1600" dirty="0"/>
              <a:t>- Column Chart: Shows Average Delay by Route.</a:t>
            </a:r>
          </a:p>
          <a:p>
            <a:r>
              <a:rPr sz="1600" dirty="0"/>
              <a:t>- Matrix: Shows Delay by Route and Train Type.</a:t>
            </a:r>
          </a:p>
          <a:p>
            <a:r>
              <a:rPr sz="1600" dirty="0"/>
              <a:t>- Funnel Chart: Shows minimum delay based on Passengers.</a:t>
            </a:r>
          </a:p>
          <a:p>
            <a:r>
              <a:rPr sz="1600" dirty="0"/>
              <a:t>- Destination Slicer: Filters data by city.</a:t>
            </a:r>
          </a:p>
        </p:txBody>
      </p:sp>
    </p:spTree>
  </p:cSld>
  <p:clrMapOvr>
    <a:masterClrMapping/>
  </p:clrMapOvr>
  <p:transition spd="slow" advTm="1000">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84744-C70C-DED1-DAC7-9840531A868E}"/>
              </a:ext>
            </a:extLst>
          </p:cNvPr>
          <p:cNvSpPr>
            <a:spLocks noGrp="1"/>
          </p:cNvSpPr>
          <p:nvPr>
            <p:ph type="title"/>
          </p:nvPr>
        </p:nvSpPr>
        <p:spPr>
          <a:xfrm>
            <a:off x="2171700" y="-511277"/>
            <a:ext cx="6377940" cy="2222090"/>
          </a:xfrm>
        </p:spPr>
        <p:txBody>
          <a:bodyPr>
            <a:normAutofit/>
          </a:bodyPr>
          <a:lstStyle/>
          <a:p>
            <a:r>
              <a:rPr lang="en-US" sz="3200" dirty="0"/>
              <a:t>How Key Measures Are Added</a:t>
            </a:r>
            <a:endParaRPr lang="en-IN" sz="3200" dirty="0"/>
          </a:p>
        </p:txBody>
      </p:sp>
      <p:sp>
        <p:nvSpPr>
          <p:cNvPr id="3" name="Content Placeholder 2">
            <a:extLst>
              <a:ext uri="{FF2B5EF4-FFF2-40B4-BE49-F238E27FC236}">
                <a16:creationId xmlns:a16="http://schemas.microsoft.com/office/drawing/2014/main" id="{08D1817C-AC9E-02B7-36B5-6C09D5A5CCCC}"/>
              </a:ext>
            </a:extLst>
          </p:cNvPr>
          <p:cNvSpPr>
            <a:spLocks noGrp="1"/>
          </p:cNvSpPr>
          <p:nvPr>
            <p:ph idx="1"/>
          </p:nvPr>
        </p:nvSpPr>
        <p:spPr>
          <a:xfrm>
            <a:off x="594360" y="2194560"/>
            <a:ext cx="7955280" cy="3055866"/>
          </a:xfrm>
        </p:spPr>
        <p:txBody>
          <a:bodyPr/>
          <a:lstStyle/>
          <a:p>
            <a:r>
              <a:rPr lang="en-US" sz="2000" b="1" dirty="0"/>
              <a:t>Steps to create a Key Measure:</a:t>
            </a:r>
          </a:p>
          <a:p>
            <a:r>
              <a:rPr lang="en-US" sz="2000" dirty="0"/>
              <a:t>Go to </a:t>
            </a:r>
            <a:r>
              <a:rPr lang="en-US" sz="2000" b="1" dirty="0"/>
              <a:t>Modeling → New Measure</a:t>
            </a:r>
            <a:endParaRPr lang="en-US" sz="2000" dirty="0"/>
          </a:p>
          <a:p>
            <a:r>
              <a:rPr lang="en-US" sz="2000" dirty="0"/>
              <a:t>Write DAX formula</a:t>
            </a:r>
            <a:br>
              <a:rPr lang="en-US" sz="2000" dirty="0"/>
            </a:br>
            <a:r>
              <a:rPr lang="en-US" sz="2000" dirty="0"/>
              <a:t>Example:</a:t>
            </a:r>
          </a:p>
          <a:p>
            <a:r>
              <a:rPr lang="en-US" sz="2000" dirty="0"/>
              <a:t>Total Passengers = SUM(Railway[Passengers])</a:t>
            </a:r>
          </a:p>
          <a:p>
            <a:endParaRPr lang="en-IN" dirty="0"/>
          </a:p>
        </p:txBody>
      </p:sp>
    </p:spTree>
    <p:extLst>
      <p:ext uri="{BB962C8B-B14F-4D97-AF65-F5344CB8AC3E}">
        <p14:creationId xmlns:p14="http://schemas.microsoft.com/office/powerpoint/2010/main" val="2855903778"/>
      </p:ext>
    </p:extLst>
  </p:cSld>
  <p:clrMapOvr>
    <a:masterClrMapping/>
  </p:clrMapOvr>
  <p:transition spd="slow" advTm="1000">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04772-9223-C823-2538-1F8BAC79104E}"/>
              </a:ext>
            </a:extLst>
          </p:cNvPr>
          <p:cNvSpPr>
            <a:spLocks noGrp="1"/>
          </p:cNvSpPr>
          <p:nvPr>
            <p:ph type="title"/>
          </p:nvPr>
        </p:nvSpPr>
        <p:spPr>
          <a:xfrm>
            <a:off x="2171700" y="186814"/>
            <a:ext cx="6377940" cy="324464"/>
          </a:xfrm>
        </p:spPr>
        <p:txBody>
          <a:bodyPr>
            <a:normAutofit fontScale="90000"/>
          </a:bodyPr>
          <a:lstStyle/>
          <a:p>
            <a:r>
              <a:rPr lang="en-US" dirty="0"/>
              <a:t>Key Insights</a:t>
            </a:r>
            <a:endParaRPr lang="en-IN" dirty="0"/>
          </a:p>
        </p:txBody>
      </p:sp>
      <p:sp>
        <p:nvSpPr>
          <p:cNvPr id="3" name="Content Placeholder 2">
            <a:extLst>
              <a:ext uri="{FF2B5EF4-FFF2-40B4-BE49-F238E27FC236}">
                <a16:creationId xmlns:a16="http://schemas.microsoft.com/office/drawing/2014/main" id="{011CDFF3-2E13-383C-EA52-6E6022CF3705}"/>
              </a:ext>
            </a:extLst>
          </p:cNvPr>
          <p:cNvSpPr>
            <a:spLocks noGrp="1"/>
          </p:cNvSpPr>
          <p:nvPr>
            <p:ph idx="1"/>
          </p:nvPr>
        </p:nvSpPr>
        <p:spPr>
          <a:xfrm>
            <a:off x="515702" y="501446"/>
            <a:ext cx="7955280" cy="6346722"/>
          </a:xfrm>
        </p:spPr>
        <p:txBody>
          <a:bodyPr>
            <a:normAutofit fontScale="92500" lnSpcReduction="20000"/>
          </a:bodyPr>
          <a:lstStyle/>
          <a:p>
            <a:r>
              <a:rPr lang="en-US" b="1" dirty="0"/>
              <a:t>1️⃣ Train Operations Overview</a:t>
            </a:r>
          </a:p>
          <a:p>
            <a:r>
              <a:rPr lang="en-US" dirty="0"/>
              <a:t>The dashboard shows the overall number of trains, passengers, routes, and total revenue.</a:t>
            </a:r>
          </a:p>
          <a:p>
            <a:r>
              <a:rPr lang="en-US" dirty="0"/>
              <a:t>It gives a quick snapshot of railway performance using KPI cards.</a:t>
            </a:r>
          </a:p>
          <a:p>
            <a:br>
              <a:rPr lang="en-US" dirty="0"/>
            </a:br>
            <a:endParaRPr lang="en-US" dirty="0"/>
          </a:p>
          <a:p>
            <a:r>
              <a:rPr lang="en-US" b="1" dirty="0"/>
              <a:t>2️⃣ Revenue Performance</a:t>
            </a:r>
          </a:p>
          <a:p>
            <a:r>
              <a:rPr lang="en-US" dirty="0"/>
              <a:t>Superfast and Express trains generate higher revenue compared to Passenger trains.</a:t>
            </a:r>
          </a:p>
          <a:p>
            <a:r>
              <a:rPr lang="en-US" dirty="0"/>
              <a:t>Some routes contribute more revenue, indicating high-demand corridors.</a:t>
            </a:r>
          </a:p>
          <a:p>
            <a:br>
              <a:rPr lang="en-US" dirty="0"/>
            </a:br>
            <a:endParaRPr lang="en-US" dirty="0"/>
          </a:p>
          <a:p>
            <a:r>
              <a:rPr lang="en-US" b="1" dirty="0"/>
              <a:t>3️⃣ Passenger Analysis</a:t>
            </a:r>
          </a:p>
          <a:p>
            <a:r>
              <a:rPr lang="en-US" dirty="0"/>
              <a:t>Routes with longer distance generally carry more passengers.</a:t>
            </a:r>
          </a:p>
          <a:p>
            <a:r>
              <a:rPr lang="en-US" dirty="0"/>
              <a:t>Average passengers per train helps identify trains with high and low occupancy.</a:t>
            </a:r>
          </a:p>
          <a:p>
            <a:br>
              <a:rPr lang="en-US" dirty="0"/>
            </a:br>
            <a:endParaRPr lang="en-US" dirty="0"/>
          </a:p>
          <a:p>
            <a:endParaRPr lang="en-US" b="1" dirty="0"/>
          </a:p>
          <a:p>
            <a:endParaRPr lang="en-IN" dirty="0"/>
          </a:p>
        </p:txBody>
      </p:sp>
    </p:spTree>
    <p:extLst>
      <p:ext uri="{BB962C8B-B14F-4D97-AF65-F5344CB8AC3E}">
        <p14:creationId xmlns:p14="http://schemas.microsoft.com/office/powerpoint/2010/main" val="95875200"/>
      </p:ext>
    </p:extLst>
  </p:cSld>
  <p:clrMapOvr>
    <a:masterClrMapping/>
  </p:clrMapOvr>
  <p:transition spd="slow" advTm="1000">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924B6F-3A2D-3A36-4120-23C970F654BC}"/>
              </a:ext>
            </a:extLst>
          </p:cNvPr>
          <p:cNvSpPr>
            <a:spLocks noGrp="1"/>
          </p:cNvSpPr>
          <p:nvPr>
            <p:ph idx="1"/>
          </p:nvPr>
        </p:nvSpPr>
        <p:spPr>
          <a:xfrm>
            <a:off x="594360" y="658761"/>
            <a:ext cx="7955280" cy="5604879"/>
          </a:xfrm>
        </p:spPr>
        <p:txBody>
          <a:bodyPr>
            <a:normAutofit fontScale="70000" lnSpcReduction="20000"/>
          </a:bodyPr>
          <a:lstStyle/>
          <a:p>
            <a:r>
              <a:rPr lang="en-US" dirty="0"/>
              <a:t>4️⃣ Delay Analysis</a:t>
            </a:r>
          </a:p>
          <a:p>
            <a:r>
              <a:rPr lang="en-US" dirty="0"/>
              <a:t>A large percentage of trains run on time, but some experience delays.</a:t>
            </a:r>
          </a:p>
          <a:p>
            <a:r>
              <a:rPr lang="en-US" dirty="0"/>
              <a:t>Delays above 30 minutes are fewer but have a high operational impact.</a:t>
            </a:r>
          </a:p>
          <a:p>
            <a:r>
              <a:rPr lang="en-US" dirty="0"/>
              <a:t>Certain routes show higher average delays, indicating areas for improvement.</a:t>
            </a:r>
          </a:p>
          <a:p>
            <a:br>
              <a:rPr lang="en-US" dirty="0"/>
            </a:br>
            <a:endParaRPr lang="en-US" dirty="0"/>
          </a:p>
          <a:p>
            <a:r>
              <a:rPr lang="en-US" dirty="0"/>
              <a:t>5️⃣ Train Performance</a:t>
            </a:r>
          </a:p>
          <a:p>
            <a:r>
              <a:rPr lang="en-US" dirty="0"/>
              <a:t>On-time performance varies by train type.</a:t>
            </a:r>
          </a:p>
          <a:p>
            <a:r>
              <a:rPr lang="en-US" dirty="0"/>
              <a:t>Rajdhani and Superfast trains show better punctuality compared to others.</a:t>
            </a:r>
          </a:p>
          <a:p>
            <a:br>
              <a:rPr lang="en-US" dirty="0"/>
            </a:br>
            <a:endParaRPr lang="en-US" dirty="0"/>
          </a:p>
          <a:p>
            <a:r>
              <a:rPr lang="en-US" dirty="0"/>
              <a:t>6️⃣ Route Efficiency</a:t>
            </a:r>
          </a:p>
          <a:p>
            <a:r>
              <a:rPr lang="en-US" dirty="0"/>
              <a:t>Some routes have high passenger volume but lower revenue, suggesting lower ticket pricing.</a:t>
            </a:r>
          </a:p>
          <a:p>
            <a:r>
              <a:rPr lang="en-US" dirty="0"/>
              <a:t>Routes with high revenue per train indicate better efficiency.</a:t>
            </a:r>
          </a:p>
          <a:p>
            <a:br>
              <a:rPr lang="en-US" dirty="0"/>
            </a:br>
            <a:endParaRPr lang="en-US" dirty="0"/>
          </a:p>
          <a:p>
            <a:r>
              <a:rPr lang="en-US" dirty="0"/>
              <a:t>7️⃣ Decision-Making Support</a:t>
            </a:r>
          </a:p>
          <a:p>
            <a:r>
              <a:rPr lang="en-US" dirty="0"/>
              <a:t>The dashboard helps management to:</a:t>
            </a:r>
          </a:p>
          <a:p>
            <a:pPr lvl="1"/>
            <a:r>
              <a:rPr lang="en-US" dirty="0"/>
              <a:t>Improve punctuality</a:t>
            </a:r>
          </a:p>
          <a:p>
            <a:pPr lvl="1"/>
            <a:r>
              <a:rPr lang="en-US" dirty="0"/>
              <a:t>Optimize routes and schedules</a:t>
            </a:r>
          </a:p>
          <a:p>
            <a:pPr lvl="1"/>
            <a:r>
              <a:rPr lang="en-US" dirty="0"/>
              <a:t>Increase revenue and passenger satisfaction</a:t>
            </a:r>
          </a:p>
          <a:p>
            <a:endParaRPr lang="en-IN" dirty="0"/>
          </a:p>
        </p:txBody>
      </p:sp>
    </p:spTree>
    <p:extLst>
      <p:ext uri="{BB962C8B-B14F-4D97-AF65-F5344CB8AC3E}">
        <p14:creationId xmlns:p14="http://schemas.microsoft.com/office/powerpoint/2010/main" val="180004063"/>
      </p:ext>
    </p:extLst>
  </p:cSld>
  <p:clrMapOvr>
    <a:masterClrMapping/>
  </p:clrMapOvr>
  <p:transition spd="slow" advTm="1000">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1700" y="764373"/>
            <a:ext cx="6377940" cy="789124"/>
          </a:xfrm>
        </p:spPr>
        <p:txBody>
          <a:bodyPr/>
          <a:lstStyle/>
          <a:p>
            <a:r>
              <a:rPr dirty="0"/>
              <a:t>Conclusion</a:t>
            </a:r>
          </a:p>
        </p:txBody>
      </p:sp>
      <p:sp>
        <p:nvSpPr>
          <p:cNvPr id="3" name="Content Placeholder 2"/>
          <p:cNvSpPr>
            <a:spLocks noGrp="1"/>
          </p:cNvSpPr>
          <p:nvPr>
            <p:ph idx="1"/>
          </p:nvPr>
        </p:nvSpPr>
        <p:spPr>
          <a:xfrm>
            <a:off x="594360" y="1474839"/>
            <a:ext cx="7955280" cy="5152103"/>
          </a:xfrm>
        </p:spPr>
        <p:txBody>
          <a:bodyPr>
            <a:noAutofit/>
          </a:bodyPr>
          <a:lstStyle/>
          <a:p>
            <a:r>
              <a:rPr lang="en-US" sz="1800" dirty="0"/>
              <a:t>This Railway Power BI project helps us understand railway operations in a simple and visual way.</a:t>
            </a:r>
            <a:br>
              <a:rPr lang="en-US" sz="1800" dirty="0"/>
            </a:br>
            <a:r>
              <a:rPr lang="en-US" sz="1800" dirty="0"/>
              <a:t>By using charts, key measures, and filters, we can easily analyze train performance, passengers, revenue, and delays.</a:t>
            </a:r>
          </a:p>
          <a:p>
            <a:r>
              <a:rPr lang="en-US" sz="1800" dirty="0"/>
              <a:t>The dashboard gives:</a:t>
            </a:r>
          </a:p>
          <a:p>
            <a:r>
              <a:rPr lang="en-US" sz="1800" dirty="0"/>
              <a:t>A clear overview of overall railway performance</a:t>
            </a:r>
          </a:p>
          <a:p>
            <a:r>
              <a:rPr lang="en-US" sz="1800" dirty="0"/>
              <a:t>Easy comparison between routes, train types, and time periods</a:t>
            </a:r>
          </a:p>
          <a:p>
            <a:r>
              <a:rPr lang="en-US" sz="1800" dirty="0"/>
              <a:t>Quick insights using key measures like total passengers, revenue, and average delay</a:t>
            </a:r>
          </a:p>
          <a:p>
            <a:r>
              <a:rPr lang="en-US" sz="1800" dirty="0"/>
              <a:t>Filters and slicers make the dashboard interactive and user-friendly.</a:t>
            </a:r>
            <a:br>
              <a:rPr lang="en-US" sz="1800" dirty="0"/>
            </a:br>
            <a:r>
              <a:rPr lang="en-US" sz="1800" dirty="0"/>
              <a:t>This project shows how Power BI can turn raw data into meaningful information and help management take better decisions.</a:t>
            </a:r>
          </a:p>
          <a:p>
            <a:r>
              <a:rPr lang="en-US" sz="1800" b="1" dirty="0"/>
              <a:t>Overall, this project demonstrates good understanding of Power BI, DAX measures, and data visualization.</a:t>
            </a:r>
            <a:endParaRPr lang="en-US" sz="1800" dirty="0"/>
          </a:p>
          <a:p>
            <a:pPr marL="0" indent="0">
              <a:buNone/>
            </a:pPr>
            <a:endParaRPr sz="2400" dirty="0"/>
          </a:p>
        </p:txBody>
      </p:sp>
    </p:spTree>
  </p:cSld>
  <p:clrMapOvr>
    <a:masterClrMapping/>
  </p:clrMapOvr>
  <p:transition spd="slow" advTm="1000">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4FCE0-7555-F5E9-5AEE-17B6A4305C6B}"/>
              </a:ext>
            </a:extLst>
          </p:cNvPr>
          <p:cNvSpPr>
            <a:spLocks noGrp="1"/>
          </p:cNvSpPr>
          <p:nvPr>
            <p:ph type="ctrTitle"/>
          </p:nvPr>
        </p:nvSpPr>
        <p:spPr/>
        <p:txBody>
          <a:bodyPr>
            <a:normAutofit/>
          </a:bodyPr>
          <a:lstStyle/>
          <a:p>
            <a:r>
              <a:rPr lang="en-US" sz="4800" i="1" dirty="0"/>
              <a:t>Thank You for your precious time..</a:t>
            </a:r>
            <a:endParaRPr lang="en-IN" sz="4800" i="1" dirty="0"/>
          </a:p>
        </p:txBody>
      </p:sp>
    </p:spTree>
    <p:extLst>
      <p:ext uri="{BB962C8B-B14F-4D97-AF65-F5344CB8AC3E}">
        <p14:creationId xmlns:p14="http://schemas.microsoft.com/office/powerpoint/2010/main" val="909054589"/>
      </p:ext>
    </p:extLst>
  </p:cSld>
  <p:clrMapOvr>
    <a:masterClrMapping/>
  </p:clrMapOvr>
  <p:transition spd="slow" advTm="1000">
    <p:wipe/>
  </p:transition>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Vapor Trail</Template>
  <TotalTime>242</TotalTime>
  <Words>1637</Words>
  <Application>Microsoft Office PowerPoint</Application>
  <PresentationFormat>On-screen Show (4:3)</PresentationFormat>
  <Paragraphs>228</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Arial</vt:lpstr>
      <vt:lpstr>Century Gothic</vt:lpstr>
      <vt:lpstr>Vapor Trail</vt:lpstr>
      <vt:lpstr>Railway Passenger &amp; Revenue Analysis</vt:lpstr>
      <vt:lpstr>Problem Statement</vt:lpstr>
      <vt:lpstr>About this Project?</vt:lpstr>
      <vt:lpstr>Who will use this Dashboard   </vt:lpstr>
      <vt:lpstr>Data Overview</vt:lpstr>
      <vt:lpstr>Dataset Size &amp; Key Fields</vt:lpstr>
      <vt:lpstr>How power query is used</vt:lpstr>
      <vt:lpstr>Key Measures Explanation (DAX)</vt:lpstr>
      <vt:lpstr>Home Page – Navigation Dashboard</vt:lpstr>
      <vt:lpstr>Railway Overview Dashboard</vt:lpstr>
      <vt:lpstr>Railway Overview – Charts Explanation</vt:lpstr>
      <vt:lpstr>Train Performance Analysis Dashboard</vt:lpstr>
      <vt:lpstr>Route &amp; Passenger Analysis Dashboard</vt:lpstr>
      <vt:lpstr>Delay &amp; Time Analysis Dashboard</vt:lpstr>
      <vt:lpstr>How Key Measures Are Added</vt:lpstr>
      <vt:lpstr>Key Insights</vt:lpstr>
      <vt:lpstr>PowerPoint Presentation</vt:lpstr>
      <vt:lpstr>Conclusion</vt:lpstr>
      <vt:lpstr>Thank You for your precious time..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Harsh</dc:creator>
  <cp:keywords/>
  <dc:description>generated using python-pptx</dc:description>
  <cp:lastModifiedBy>harshvarma25032005@outlook.com</cp:lastModifiedBy>
  <cp:revision>4</cp:revision>
  <dcterms:created xsi:type="dcterms:W3CDTF">2013-01-27T09:14:16Z</dcterms:created>
  <dcterms:modified xsi:type="dcterms:W3CDTF">2026-01-28T04:47:22Z</dcterms:modified>
  <cp:category/>
</cp:coreProperties>
</file>